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28"/>
  </p:notesMasterIdLst>
  <p:sldIdLst>
    <p:sldId id="328" r:id="rId3"/>
    <p:sldId id="256" r:id="rId4"/>
    <p:sldId id="257" r:id="rId5"/>
    <p:sldId id="312" r:id="rId6"/>
    <p:sldId id="258" r:id="rId7"/>
    <p:sldId id="259" r:id="rId8"/>
    <p:sldId id="324" r:id="rId9"/>
    <p:sldId id="260" r:id="rId10"/>
    <p:sldId id="322" r:id="rId11"/>
    <p:sldId id="262" r:id="rId12"/>
    <p:sldId id="323" r:id="rId13"/>
    <p:sldId id="313" r:id="rId14"/>
    <p:sldId id="261" r:id="rId15"/>
    <p:sldId id="326" r:id="rId16"/>
    <p:sldId id="314" r:id="rId17"/>
    <p:sldId id="291" r:id="rId18"/>
    <p:sldId id="282" r:id="rId19"/>
    <p:sldId id="315" r:id="rId20"/>
    <p:sldId id="316" r:id="rId21"/>
    <p:sldId id="294" r:id="rId22"/>
    <p:sldId id="295" r:id="rId23"/>
    <p:sldId id="285" r:id="rId24"/>
    <p:sldId id="317" r:id="rId25"/>
    <p:sldId id="318" r:id="rId26"/>
    <p:sldId id="321" r:id="rId27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5932" autoAdjust="0"/>
  </p:normalViewPr>
  <p:slideViewPr>
    <p:cSldViewPr snapToGrid="0">
      <p:cViewPr varScale="1">
        <p:scale>
          <a:sx n="98" d="100"/>
          <a:sy n="98" d="100"/>
        </p:scale>
        <p:origin x="107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9D2B54-8F89-4695-92B9-17EDEF6EA58F}" type="datetimeFigureOut">
              <a:rPr lang="zh-TW" altLang="en-US" smtClean="0"/>
              <a:t>2026/8/15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D1E048-84D3-468E-B508-63C87FF3489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304782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/>
              <a:t>V3</a:t>
            </a:r>
            <a:r>
              <a:rPr lang="zh-TW" altLang="en-US" sz="1200" dirty="0"/>
              <a:t>、</a:t>
            </a:r>
            <a:r>
              <a:rPr lang="en-US" altLang="zh-TW" sz="1200" dirty="0"/>
              <a:t>v4</a:t>
            </a:r>
            <a:r>
              <a:rPr lang="zh-TW" altLang="en-US" sz="1200" dirty="0"/>
              <a:t>不是不能用，但會漸漸減少</a:t>
            </a:r>
            <a:endParaRPr lang="en-US" altLang="zh-TW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 err="1"/>
              <a:t>bs</a:t>
            </a:r>
            <a:r>
              <a:rPr lang="zh-TW" altLang="en-US" sz="1200" dirty="0"/>
              <a:t>優點是高效率完成，但</a:t>
            </a:r>
            <a:r>
              <a:rPr lang="en-US" altLang="zh-TW" sz="1200" dirty="0"/>
              <a:t>BS</a:t>
            </a:r>
            <a:r>
              <a:rPr lang="zh-TW" altLang="en-US" sz="1200" dirty="0"/>
              <a:t>也是有極限，無法完全滿足須求，所以也是須要再搭配</a:t>
            </a:r>
            <a:r>
              <a:rPr lang="en-US" altLang="zh-TW" sz="1200" dirty="0" err="1"/>
              <a:t>css</a:t>
            </a:r>
            <a:r>
              <a:rPr lang="zh-TW" altLang="en-US" sz="1200" dirty="0"/>
              <a:t>、</a:t>
            </a:r>
            <a:r>
              <a:rPr lang="en-US" altLang="zh-TW" sz="1200" dirty="0" err="1"/>
              <a:t>js</a:t>
            </a:r>
            <a:r>
              <a:rPr lang="zh-TW" altLang="en-US" sz="1200" dirty="0"/>
              <a:t>來輔助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D1E048-84D3-468E-B508-63C87FF34892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69259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有紅色是</a:t>
            </a:r>
            <a:r>
              <a:rPr lang="en-US" altLang="zh-TW" dirty="0"/>
              <a:t>ok</a:t>
            </a:r>
            <a:r>
              <a:rPr lang="zh-TW" altLang="en-US" dirty="0"/>
              <a:t>的 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D1E048-84D3-468E-B508-63C87FF34892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2898350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對照手寫</a:t>
            </a:r>
            <a:r>
              <a:rPr lang="en-US" altLang="zh-TW" dirty="0" err="1"/>
              <a:t>css</a:t>
            </a:r>
            <a:r>
              <a:rPr lang="zh-TW" altLang="en-US" dirty="0"/>
              <a:t>，像素是</a:t>
            </a:r>
            <a:r>
              <a:rPr lang="en-US" altLang="zh-TW" dirty="0"/>
              <a:t>bs</a:t>
            </a:r>
            <a:r>
              <a:rPr lang="zh-TW" altLang="en-US" dirty="0"/>
              <a:t>定義的，也可用</a:t>
            </a:r>
            <a:r>
              <a:rPr lang="en-US" altLang="zh-TW" dirty="0" err="1"/>
              <a:t>css</a:t>
            </a:r>
            <a:r>
              <a:rPr lang="zh-TW" altLang="en-US" dirty="0"/>
              <a:t>自設，</a:t>
            </a:r>
            <a:r>
              <a:rPr lang="en-US" altLang="zh-TW" dirty="0"/>
              <a:t>media query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D1E048-84D3-468E-B508-63C87FF34892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932275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7FCFC8C-5F14-57BB-7368-3A463954DC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6D6692EE-6B81-2D3E-F685-DE17ED0349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CE64190-A8A3-8688-0545-3503A4564E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6F9C1A-3528-47D7-9DBD-D23441465755}" type="datetimeFigureOut">
              <a:rPr lang="zh-TW" altLang="en-US" smtClean="0"/>
              <a:t>2026/8/15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7D8ECF4-5BF1-5F8E-02E5-B5F70B58BC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0E40CB68-7A02-F750-18A6-F8D1871C6E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19DEE0-CFFF-4176-B322-51F917D5AF2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369545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EB99AE4-7616-B99F-6403-520FA01C71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B93C9F2-BE20-9320-B30C-4516966A8D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E2B5BE6-C502-2715-53BE-223663AB0D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6F9C1A-3528-47D7-9DBD-D23441465755}" type="datetimeFigureOut">
              <a:rPr lang="zh-TW" altLang="en-US" smtClean="0"/>
              <a:t>2026/8/15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D7B6E2C-9EAF-9021-C6D8-937369D94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0AF9EEA3-83BA-B614-BD7B-2DD11D24CF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19DEE0-CFFF-4176-B322-51F917D5AF2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214981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7E8130B-CAD5-62B9-49BA-14DEF098EE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859E98DF-9506-87DA-4876-09CD0CECEE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B8E142B-5D9E-0FAF-50F3-81DF03EEF3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6F9C1A-3528-47D7-9DBD-D23441465755}" type="datetimeFigureOut">
              <a:rPr lang="zh-TW" altLang="en-US" smtClean="0"/>
              <a:t>2026/8/15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1F9BA85E-67D7-5ADC-2035-CFEC2A4057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00E07C6-DC11-FCB7-9B9D-6368E1466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19DEE0-CFFF-4176-B322-51F917D5AF2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30644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26ACDDD-7A6E-B381-FDAA-36547E561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F552F32-F3A3-DEAD-ADE5-731394F868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5A3305D1-54C9-991E-8753-028E31C10D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A518BD78-F473-BAE6-89C5-19F4A23083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6F9C1A-3528-47D7-9DBD-D23441465755}" type="datetimeFigureOut">
              <a:rPr lang="zh-TW" altLang="en-US" smtClean="0"/>
              <a:t>2026/8/15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F69D9C37-D012-5317-C3F4-0831BA5BFA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5DF8D82F-597D-6788-5BC6-CB9C104250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19DEE0-CFFF-4176-B322-51F917D5AF2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499951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1D3F384-0A52-3653-68B0-7B7CF2A802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95262DF5-BA09-270A-2205-BC08B6588D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C28270E-51B1-831A-7E4A-53E6A51126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BBB8AEB4-A130-6981-A3CF-D8A8EE2481E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99361C4C-9B12-B78D-3959-B82E717AE7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F2A332D8-45AF-FE5E-E034-8F619F99DB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6F9C1A-3528-47D7-9DBD-D23441465755}" type="datetimeFigureOut">
              <a:rPr lang="zh-TW" altLang="en-US" smtClean="0"/>
              <a:t>2026/8/15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A4D0BB3F-7B63-FBF2-7F33-8302CF57B2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300D9E3E-A886-9FE1-3454-C526B0CD6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19DEE0-CFFF-4176-B322-51F917D5AF2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764087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7E8CC2A-7FD7-0685-E11E-0127991FD3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3B7DD0F3-7819-EF79-3719-C40AD94AF2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6F9C1A-3528-47D7-9DBD-D23441465755}" type="datetimeFigureOut">
              <a:rPr lang="zh-TW" altLang="en-US" smtClean="0"/>
              <a:t>2026/8/15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0EF50596-F800-1FFA-4416-7B369459CB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2EDD0C5-2C04-7ED5-7F90-73086BC8C9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19DEE0-CFFF-4176-B322-51F917D5AF2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923837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DB21F50A-D5B7-CDA3-6D54-904EFF869B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6F9C1A-3528-47D7-9DBD-D23441465755}" type="datetimeFigureOut">
              <a:rPr lang="zh-TW" altLang="en-US" smtClean="0"/>
              <a:t>2026/8/15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FF742879-7AB8-FCED-ACF1-F944327D8A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8D92E9D-B1CA-3B06-31DD-C22D265822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19DEE0-CFFF-4176-B322-51F917D5AF2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149858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12F4A1-AFCA-565D-CA00-1AB8EAF66A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49255D1-57AA-F357-4558-F31CA829CA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65BCA011-0155-6BD7-AD18-13AD86D128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2CECD164-1E56-C904-479B-5E9B41D6BF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6F9C1A-3528-47D7-9DBD-D23441465755}" type="datetimeFigureOut">
              <a:rPr lang="zh-TW" altLang="en-US" smtClean="0"/>
              <a:t>2026/8/15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09F06DB0-54D0-216F-514F-32389CD690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383AE05C-A591-8A79-2654-4EE936449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19DEE0-CFFF-4176-B322-51F917D5AF2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116075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629405A-8BB9-550C-7931-2BE7C855C1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52AE16E8-89E2-9385-7E4C-43A40A65C24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7AEE53F7-34DD-9EB2-C15A-065555AF246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6EB6D6D7-C4DE-8D28-B4A0-1250E1B1AA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6F9C1A-3528-47D7-9DBD-D23441465755}" type="datetimeFigureOut">
              <a:rPr lang="zh-TW" altLang="en-US" smtClean="0"/>
              <a:t>2026/8/15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BC68391-2D8D-4A2A-3C43-FDE65398AD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6BF11BB-AEE6-CDD8-FD08-E43F71B3A5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19DEE0-CFFF-4176-B322-51F917D5AF2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514162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162E1B8-B318-21DF-939E-27F0B990BB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71B38062-0CE2-15AA-0FED-D1ED4A8BE0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C0791A7-4745-3C5C-DB34-5243B871B8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6F9C1A-3528-47D7-9DBD-D23441465755}" type="datetimeFigureOut">
              <a:rPr lang="zh-TW" altLang="en-US" smtClean="0"/>
              <a:t>2026/8/15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FC8CAD7-4A47-3AE3-E3FC-723DF8B83E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C026964-8159-9F48-F0E8-C521F2C9B6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19DEE0-CFFF-4176-B322-51F917D5AF2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033108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FEDBC2DE-FC1C-06C7-431E-589DF98ED9C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ECE3DEBD-199E-5ED3-144D-9A7CB197AB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A82442B-D29E-3881-5B57-FD8D77889D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6F9C1A-3528-47D7-9DBD-D23441465755}" type="datetimeFigureOut">
              <a:rPr lang="zh-TW" altLang="en-US" smtClean="0"/>
              <a:t>2026/8/15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E6DA4B6-8247-B50C-B4D7-583438B141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6601FC3-E851-AC85-3B56-C5F910CE3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19DEE0-CFFF-4176-B322-51F917D5AF2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2130212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圖片 12">
            <a:extLst>
              <a:ext uri="{FF2B5EF4-FFF2-40B4-BE49-F238E27FC236}">
                <a16:creationId xmlns:a16="http://schemas.microsoft.com/office/drawing/2014/main" id="{F8FAA2ED-CE8C-4CA4-92E3-E2C5E084078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35854" r="25345" b="27727"/>
          <a:stretch/>
        </p:blipFill>
        <p:spPr>
          <a:xfrm>
            <a:off x="1103446" y="601743"/>
            <a:ext cx="1250125" cy="32918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1371601"/>
            <a:ext cx="10464800" cy="1927225"/>
          </a:xfrm>
        </p:spPr>
        <p:txBody>
          <a:bodyPr anchor="b">
            <a:noAutofit/>
          </a:bodyPr>
          <a:lstStyle>
            <a:lvl1pPr>
              <a:defRPr sz="5400" cap="all" baseline="0">
                <a:solidFill>
                  <a:srgbClr val="008FC4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3505200"/>
            <a:ext cx="8534400" cy="1752600"/>
          </a:xfrm>
        </p:spPr>
        <p:txBody>
          <a:bodyPr/>
          <a:lstStyle>
            <a:lvl1pPr marL="0" indent="0" algn="l"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F2E14E-90DA-4348-BFC3-233F8518E0D1}" type="datetimeFigureOut">
              <a:rPr lang="zh-TW" altLang="en-US" smtClean="0"/>
              <a:t>2026/8/15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AD33C1-01CB-4B5C-900F-5AE48A447028}" type="slidenum">
              <a:rPr lang="zh-TW" altLang="en-US" smtClean="0"/>
              <a:t>‹#›</a:t>
            </a:fld>
            <a:endParaRPr lang="zh-TW" altLang="en-US"/>
          </a:p>
        </p:txBody>
      </p:sp>
      <p:cxnSp>
        <p:nvCxnSpPr>
          <p:cNvPr id="8" name="Straight Connector 7"/>
          <p:cNvCxnSpPr/>
          <p:nvPr/>
        </p:nvCxnSpPr>
        <p:spPr>
          <a:xfrm>
            <a:off x="335360" y="3501008"/>
            <a:ext cx="9889099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圖片 11">
            <a:extLst>
              <a:ext uri="{FF2B5EF4-FFF2-40B4-BE49-F238E27FC236}">
                <a16:creationId xmlns:a16="http://schemas.microsoft.com/office/drawing/2014/main" id="{1F10841E-58C4-40F5-AB87-66E5F3AFB55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63581"/>
          <a:stretch/>
        </p:blipFill>
        <p:spPr>
          <a:xfrm>
            <a:off x="0" y="5738"/>
            <a:ext cx="3128181" cy="614946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96C13D81-E70D-4CE7-B6CC-32FCA0D44A3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73327" b="15074"/>
          <a:stretch/>
        </p:blipFill>
        <p:spPr>
          <a:xfrm>
            <a:off x="2353571" y="633235"/>
            <a:ext cx="3860800" cy="2417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40183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F2E14E-90DA-4348-BFC3-233F8518E0D1}" type="datetimeFigureOut">
              <a:rPr lang="zh-TW" altLang="en-US" smtClean="0"/>
              <a:t>2026/8/15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AD33C1-01CB-4B5C-900F-5AE48A44702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1498026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2362201"/>
            <a:ext cx="10363200" cy="2200275"/>
          </a:xfrm>
        </p:spPr>
        <p:txBody>
          <a:bodyPr anchor="b">
            <a:normAutofit/>
          </a:bodyPr>
          <a:lstStyle>
            <a:lvl1pPr algn="l">
              <a:defRPr sz="4800" b="0" cap="all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4626865"/>
            <a:ext cx="10363200" cy="1500187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F2E14E-90DA-4348-BFC3-233F8518E0D1}" type="datetimeFigureOut">
              <a:rPr lang="zh-TW" altLang="en-US" smtClean="0"/>
              <a:t>2026/8/15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AD33C1-01CB-4B5C-900F-5AE48A447028}" type="slidenum">
              <a:rPr lang="zh-TW" altLang="en-US" smtClean="0"/>
              <a:t>‹#›</a:t>
            </a:fld>
            <a:endParaRPr lang="zh-TW" altLang="en-US"/>
          </a:p>
        </p:txBody>
      </p:sp>
      <p:cxnSp>
        <p:nvCxnSpPr>
          <p:cNvPr id="7" name="Straight Connector 6"/>
          <p:cNvCxnSpPr/>
          <p:nvPr/>
        </p:nvCxnSpPr>
        <p:spPr>
          <a:xfrm>
            <a:off x="975360" y="4599432"/>
            <a:ext cx="10464800" cy="1588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5564181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73352"/>
            <a:ext cx="5384800" cy="471830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73352"/>
            <a:ext cx="5384800" cy="471830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F2E14E-90DA-4348-BFC3-233F8518E0D1}" type="datetimeFigureOut">
              <a:rPr lang="zh-TW" altLang="en-US" smtClean="0"/>
              <a:t>2026/8/15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AD33C1-01CB-4B5C-900F-5AE48A44702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3305335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76400"/>
            <a:ext cx="5242560" cy="639762"/>
          </a:xfrm>
          <a:noFill/>
          <a:ln>
            <a:noFill/>
          </a:ln>
          <a:effectLst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none"/>
        </p:style>
        <p:txBody>
          <a:bodyPr anchor="ctr">
            <a:normAutofit/>
          </a:bodyPr>
          <a:lstStyle>
            <a:lvl1pPr marL="0" indent="0" algn="ctr">
              <a:buNone/>
              <a:defRPr sz="2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438400"/>
            <a:ext cx="524256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39840" y="1676400"/>
            <a:ext cx="5242560" cy="639762"/>
          </a:xfrm>
          <a:noFill/>
          <a:ln>
            <a:noFill/>
          </a:ln>
          <a:effectLst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none"/>
        </p:style>
        <p:txBody>
          <a:bodyPr anchor="ctr">
            <a:normAutofit/>
          </a:bodyPr>
          <a:lstStyle>
            <a:lvl1pPr marL="0" indent="0" algn="ctr">
              <a:buNone/>
              <a:defRPr lang="en-US" sz="2000" b="0" kern="1200" dirty="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9840" y="2438400"/>
            <a:ext cx="524256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F2E14E-90DA-4348-BFC3-233F8518E0D1}" type="datetimeFigureOut">
              <a:rPr lang="zh-TW" altLang="en-US" smtClean="0"/>
              <a:t>2026/8/15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AD33C1-01CB-4B5C-900F-5AE48A447028}" type="slidenum">
              <a:rPr lang="zh-TW" altLang="en-US" smtClean="0"/>
              <a:t>‹#›</a:t>
            </a:fld>
            <a:endParaRPr lang="zh-TW" altLang="en-US"/>
          </a:p>
        </p:txBody>
      </p:sp>
      <p:cxnSp>
        <p:nvCxnSpPr>
          <p:cNvPr id="11" name="Straight Connector 10"/>
          <p:cNvCxnSpPr/>
          <p:nvPr/>
        </p:nvCxnSpPr>
        <p:spPr>
          <a:xfrm rot="5400000">
            <a:off x="3741949" y="4045691"/>
            <a:ext cx="4709160" cy="1059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245066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F2E14E-90DA-4348-BFC3-233F8518E0D1}" type="datetimeFigureOut">
              <a:rPr lang="zh-TW" altLang="en-US" smtClean="0"/>
              <a:t>2026/8/15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AD33C1-01CB-4B5C-900F-5AE48A44702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6573485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F2E14E-90DA-4348-BFC3-233F8518E0D1}" type="datetimeFigureOut">
              <a:rPr lang="zh-TW" altLang="en-US" smtClean="0"/>
              <a:t>2026/8/15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AD33C1-01CB-4B5C-900F-5AE48A44702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4053642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792080"/>
            <a:ext cx="2852928" cy="1261872"/>
          </a:xfrm>
        </p:spPr>
        <p:txBody>
          <a:bodyPr anchor="b">
            <a:noAutofit/>
          </a:bodyPr>
          <a:lstStyle>
            <a:lvl1pPr algn="l">
              <a:defRPr sz="24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62400" y="792080"/>
            <a:ext cx="7620000" cy="557784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2130553"/>
            <a:ext cx="2852928" cy="424361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F2E14E-90DA-4348-BFC3-233F8518E0D1}" type="datetimeFigureOut">
              <a:rPr lang="zh-TW" altLang="en-US" smtClean="0"/>
              <a:t>2026/8/15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AD33C1-01CB-4B5C-900F-5AE48A447028}" type="slidenum">
              <a:rPr lang="zh-TW" altLang="en-US" smtClean="0"/>
              <a:t>‹#›</a:t>
            </a:fld>
            <a:endParaRPr lang="zh-TW" altLang="en-US"/>
          </a:p>
        </p:txBody>
      </p:sp>
      <p:cxnSp>
        <p:nvCxnSpPr>
          <p:cNvPr id="9" name="Straight Connector 8"/>
          <p:cNvCxnSpPr/>
          <p:nvPr/>
        </p:nvCxnSpPr>
        <p:spPr>
          <a:xfrm rot="5400000">
            <a:off x="912152" y="3579942"/>
            <a:ext cx="5577840" cy="2117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635083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792480"/>
            <a:ext cx="2856907" cy="126492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811480" y="838201"/>
            <a:ext cx="7872520" cy="5500456"/>
          </a:xfrm>
          <a:solidFill>
            <a:schemeClr val="bg2"/>
          </a:solidFill>
          <a:ln w="76200">
            <a:solidFill>
              <a:srgbClr val="FFFFFF"/>
            </a:solidFill>
            <a:miter lim="800000"/>
          </a:ln>
          <a:effectLst>
            <a:outerShdw blurRad="50800" dist="12700" dir="5400000" algn="t" rotWithShape="0">
              <a:prstClr val="black">
                <a:alpha val="59000"/>
              </a:prstClr>
            </a:outerShdw>
          </a:effectLst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0" y="2133600"/>
            <a:ext cx="2852928" cy="424281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F2E14E-90DA-4348-BFC3-233F8518E0D1}" type="datetimeFigureOut">
              <a:rPr lang="zh-TW" altLang="en-US" smtClean="0"/>
              <a:t>2026/8/15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AD33C1-01CB-4B5C-900F-5AE48A44702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9970812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F2E14E-90DA-4348-BFC3-233F8518E0D1}" type="datetimeFigureOut">
              <a:rPr lang="zh-TW" altLang="en-US" smtClean="0"/>
              <a:t>2026/8/15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AD33C1-01CB-4B5C-900F-5AE48A44702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1214551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609600"/>
            <a:ext cx="2743200" cy="5867400"/>
          </a:xfrm>
        </p:spPr>
        <p:txBody>
          <a:bodyPr vert="eaVert" anchor="b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609600"/>
            <a:ext cx="8026400" cy="5867400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F2E14E-90DA-4348-BFC3-233F8518E0D1}" type="datetimeFigureOut">
              <a:rPr lang="zh-TW" altLang="en-US" smtClean="0"/>
              <a:t>2026/8/15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AD33C1-01CB-4B5C-900F-5AE48A44702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068353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EB49E9F7-2CCA-9638-149C-A6801F0653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5CADBA5D-E6FC-831D-61A5-5BFF931525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E1AC40C-1BC9-0BB1-964F-DC0C8747D3B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6F9C1A-3528-47D7-9DBD-D23441465755}" type="datetimeFigureOut">
              <a:rPr lang="zh-TW" altLang="en-US" smtClean="0"/>
              <a:t>2026/8/15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35E8620-E116-12E1-7450-49C11F2CF4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C934E28-D756-645E-F683-ACF30D6EB2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19DEE0-CFFF-4176-B322-51F917D5AF2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701841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220786"/>
            <a:ext cx="12192000" cy="228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533400"/>
            <a:ext cx="10972800" cy="990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0"/>
            <a:ext cx="10972800" cy="4876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18288"/>
            <a:ext cx="3860800" cy="3291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rgbClr val="FFFFFF"/>
                </a:solidFill>
              </a:defRPr>
            </a:lvl1pPr>
          </a:lstStyle>
          <a:p>
            <a:fld id="{01F2E14E-90DA-4348-BFC3-233F8518E0D1}" type="datetimeFigureOut">
              <a:rPr lang="zh-TW" altLang="en-US" smtClean="0"/>
              <a:t>2026/8/15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72000" y="18288"/>
            <a:ext cx="5486400" cy="3291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FFFFFF"/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160000" y="18288"/>
            <a:ext cx="1422400" cy="3291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1">
                <a:solidFill>
                  <a:srgbClr val="FFFFFF"/>
                </a:solidFill>
              </a:defRPr>
            </a:lvl1pPr>
          </a:lstStyle>
          <a:p>
            <a:fld id="{9BAD33C1-01CB-4B5C-900F-5AE48A447028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11" name="月亮 10">
            <a:extLst>
              <a:ext uri="{FF2B5EF4-FFF2-40B4-BE49-F238E27FC236}">
                <a16:creationId xmlns:a16="http://schemas.microsoft.com/office/drawing/2014/main" id="{097930DD-E992-4608-A547-41CB73771488}"/>
              </a:ext>
            </a:extLst>
          </p:cNvPr>
          <p:cNvSpPr/>
          <p:nvPr/>
        </p:nvSpPr>
        <p:spPr>
          <a:xfrm rot="2628425" flipH="1">
            <a:off x="10873135" y="5329912"/>
            <a:ext cx="1795152" cy="2321299"/>
          </a:xfrm>
          <a:prstGeom prst="moon">
            <a:avLst>
              <a:gd name="adj" fmla="val 59357"/>
            </a:avLst>
          </a:prstGeom>
          <a:solidFill>
            <a:srgbClr val="008FC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800"/>
          </a:p>
        </p:txBody>
      </p:sp>
      <p:sp>
        <p:nvSpPr>
          <p:cNvPr id="13" name="月亮 12">
            <a:extLst>
              <a:ext uri="{FF2B5EF4-FFF2-40B4-BE49-F238E27FC236}">
                <a16:creationId xmlns:a16="http://schemas.microsoft.com/office/drawing/2014/main" id="{42285FFD-56C1-4570-9837-41F03CBC48B2}"/>
              </a:ext>
            </a:extLst>
          </p:cNvPr>
          <p:cNvSpPr/>
          <p:nvPr/>
        </p:nvSpPr>
        <p:spPr>
          <a:xfrm rot="14055851" flipH="1">
            <a:off x="36315" y="-562138"/>
            <a:ext cx="511864" cy="1261271"/>
          </a:xfrm>
          <a:prstGeom prst="moon">
            <a:avLst>
              <a:gd name="adj" fmla="val 59357"/>
            </a:avLst>
          </a:prstGeom>
          <a:solidFill>
            <a:srgbClr val="008FC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800"/>
          </a:p>
        </p:txBody>
      </p:sp>
    </p:spTree>
    <p:extLst>
      <p:ext uri="{BB962C8B-B14F-4D97-AF65-F5344CB8AC3E}">
        <p14:creationId xmlns:p14="http://schemas.microsoft.com/office/powerpoint/2010/main" val="12395768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spcBef>
          <a:spcPct val="0"/>
        </a:spcBef>
        <a:buNone/>
        <a:defRPr sz="4000" kern="1200" spc="-100" baseline="0">
          <a:solidFill>
            <a:srgbClr val="008FC4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spcBef>
          <a:spcPct val="20000"/>
        </a:spcBef>
        <a:buClr>
          <a:schemeClr val="accent1"/>
        </a:buClr>
        <a:buSzPct val="85000"/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spcBef>
          <a:spcPct val="20000"/>
        </a:spcBef>
        <a:buClr>
          <a:schemeClr val="accent1"/>
        </a:buClr>
        <a:buSzPct val="85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spcBef>
          <a:spcPct val="20000"/>
        </a:spcBef>
        <a:buClr>
          <a:schemeClr val="accent1"/>
        </a:buClr>
        <a:buSzPct val="90000"/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188720" indent="-137160" algn="l" defTabSz="914400" rtl="0" eaLnBrk="1" latinLnBrk="0" hangingPunct="1">
        <a:spcBef>
          <a:spcPct val="20000"/>
        </a:spcBef>
        <a:buClr>
          <a:schemeClr val="accent1"/>
        </a:buClr>
        <a:buSzPct val="100000"/>
        <a:buFont typeface="Arial" pitchFamily="34" charset="0"/>
        <a:buChar char="•"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137160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6pPr>
      <a:lvl7pPr marL="155448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7pPr>
      <a:lvl8pPr marL="173736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8pPr>
      <a:lvl9pPr marL="192024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snippet-generator.app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tiff"/><Relationship Id="rId2" Type="http://schemas.openxmlformats.org/officeDocument/2006/relationships/image" Target="../media/image35.tif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tif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4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3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CCC7E27-5E1F-53FF-05BC-FE8B9C22A0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A12A284D-8000-860D-A366-D77D742F71DA}"/>
              </a:ext>
            </a:extLst>
          </p:cNvPr>
          <p:cNvSpPr txBox="1"/>
          <p:nvPr/>
        </p:nvSpPr>
        <p:spPr>
          <a:xfrm>
            <a:off x="681644" y="91442"/>
            <a:ext cx="106442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/>
              <a:t>主要是大量修改須求時，有內建一些常用的功能，也有</a:t>
            </a:r>
            <a:r>
              <a:rPr lang="en-US" altLang="zh-TW" dirty="0"/>
              <a:t>mac &amp; win</a:t>
            </a:r>
            <a:r>
              <a:rPr lang="zh-TW" altLang="en-US" dirty="0"/>
              <a:t>版本，也有其他軟體，這個較簡單方便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D574415B-018C-8686-257C-74A44D2135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6791" y="2449106"/>
            <a:ext cx="5315692" cy="1676634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3D355E62-0B8C-4272-F1B2-C87608BCEB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392755"/>
            <a:ext cx="2943636" cy="2419688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49983771-F03F-8F51-43F8-C6208C2318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3608" y="655029"/>
            <a:ext cx="4115374" cy="6249272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00BE8928-9E14-4369-77E1-CDB6F745FEF7}"/>
              </a:ext>
            </a:extLst>
          </p:cNvPr>
          <p:cNvSpPr txBox="1"/>
          <p:nvPr/>
        </p:nvSpPr>
        <p:spPr>
          <a:xfrm>
            <a:off x="359118" y="1508132"/>
            <a:ext cx="26367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400" dirty="0">
                <a:solidFill>
                  <a:srgbClr val="FF0000"/>
                </a:solidFill>
              </a:rPr>
              <a:t>在設置</a:t>
            </a:r>
            <a:r>
              <a:rPr lang="en-US" altLang="zh-TW" sz="2400" dirty="0">
                <a:solidFill>
                  <a:srgbClr val="FF0000"/>
                </a:solidFill>
              </a:rPr>
              <a:t>-&gt;</a:t>
            </a:r>
            <a:r>
              <a:rPr lang="zh-TW" altLang="en-US" sz="2400" dirty="0">
                <a:solidFill>
                  <a:srgbClr val="FF0000"/>
                </a:solidFill>
              </a:rPr>
              <a:t>最上面語系可改繁中</a:t>
            </a:r>
          </a:p>
        </p:txBody>
      </p:sp>
    </p:spTree>
    <p:extLst>
      <p:ext uri="{BB962C8B-B14F-4D97-AF65-F5344CB8AC3E}">
        <p14:creationId xmlns:p14="http://schemas.microsoft.com/office/powerpoint/2010/main" val="21858905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圖片 16">
            <a:extLst>
              <a:ext uri="{FF2B5EF4-FFF2-40B4-BE49-F238E27FC236}">
                <a16:creationId xmlns:a16="http://schemas.microsoft.com/office/drawing/2014/main" id="{497293B2-2453-0736-617B-83934796DC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3982" y="0"/>
            <a:ext cx="1838582" cy="2019582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387434EE-00D7-76CB-D334-997AA7EEA2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6791" y="1925403"/>
            <a:ext cx="5315692" cy="1676634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AADBB2BB-D8FB-888B-98BB-0DD7366BE2F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92A787FA-AE9C-6D57-4937-286A7E93622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2B51684B-62FA-3D53-37AD-A7D3E2492C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869052"/>
            <a:ext cx="2943636" cy="2419688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22028FA4-F06E-8C43-088A-A222FAA059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73608" y="131326"/>
            <a:ext cx="4115374" cy="6249272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9A8FDF59-5194-F392-62BE-D65F514917F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31535" y="1798271"/>
            <a:ext cx="4182059" cy="5029902"/>
          </a:xfrm>
          <a:prstGeom prst="rect">
            <a:avLst/>
          </a:prstGeom>
        </p:spPr>
      </p:pic>
      <p:sp>
        <p:nvSpPr>
          <p:cNvPr id="10" name="矩形 9">
            <a:extLst>
              <a:ext uri="{FF2B5EF4-FFF2-40B4-BE49-F238E27FC236}">
                <a16:creationId xmlns:a16="http://schemas.microsoft.com/office/drawing/2014/main" id="{FC17593B-D54B-13D6-EDA5-A5B04A2CE7AF}"/>
              </a:ext>
            </a:extLst>
          </p:cNvPr>
          <p:cNvSpPr/>
          <p:nvPr/>
        </p:nvSpPr>
        <p:spPr>
          <a:xfrm>
            <a:off x="37230" y="4939749"/>
            <a:ext cx="944217" cy="53671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62F633D-21F2-605A-CD51-4F36F417CE4C}"/>
              </a:ext>
            </a:extLst>
          </p:cNvPr>
          <p:cNvSpPr/>
          <p:nvPr/>
        </p:nvSpPr>
        <p:spPr>
          <a:xfrm>
            <a:off x="3303104" y="807969"/>
            <a:ext cx="944217" cy="53671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3F441F1-FDD4-023F-2708-9636F05A1A71}"/>
              </a:ext>
            </a:extLst>
          </p:cNvPr>
          <p:cNvSpPr/>
          <p:nvPr/>
        </p:nvSpPr>
        <p:spPr>
          <a:xfrm>
            <a:off x="5042453" y="4939749"/>
            <a:ext cx="944217" cy="31805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C3AAFF02-9961-9C52-9F38-88413DF0FB40}"/>
              </a:ext>
            </a:extLst>
          </p:cNvPr>
          <p:cNvSpPr/>
          <p:nvPr/>
        </p:nvSpPr>
        <p:spPr>
          <a:xfrm>
            <a:off x="7994373" y="2573523"/>
            <a:ext cx="1427923" cy="86505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B8072F49-11EC-E2BC-33F7-2BE4126F22D3}"/>
              </a:ext>
            </a:extLst>
          </p:cNvPr>
          <p:cNvSpPr/>
          <p:nvPr/>
        </p:nvSpPr>
        <p:spPr>
          <a:xfrm>
            <a:off x="8083827" y="4841038"/>
            <a:ext cx="2203173" cy="150970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708FF207-AC8D-6430-EB9C-5F8582D5EE4A}"/>
              </a:ext>
            </a:extLst>
          </p:cNvPr>
          <p:cNvSpPr txBox="1"/>
          <p:nvPr/>
        </p:nvSpPr>
        <p:spPr>
          <a:xfrm>
            <a:off x="359118" y="211346"/>
            <a:ext cx="26367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400" dirty="0">
                <a:solidFill>
                  <a:srgbClr val="FF0000"/>
                </a:solidFill>
              </a:rPr>
              <a:t>在設置</a:t>
            </a:r>
            <a:r>
              <a:rPr lang="en-US" altLang="zh-TW" sz="2400" dirty="0">
                <a:solidFill>
                  <a:srgbClr val="FF0000"/>
                </a:solidFill>
              </a:rPr>
              <a:t>-&gt;</a:t>
            </a:r>
            <a:r>
              <a:rPr lang="zh-TW" altLang="en-US" sz="2400" dirty="0">
                <a:solidFill>
                  <a:srgbClr val="FF0000"/>
                </a:solidFill>
              </a:rPr>
              <a:t>最上面語系可改繁中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FB095A2-453E-441E-037A-65B5143BA9EE}"/>
              </a:ext>
            </a:extLst>
          </p:cNvPr>
          <p:cNvSpPr/>
          <p:nvPr/>
        </p:nvSpPr>
        <p:spPr>
          <a:xfrm>
            <a:off x="178135" y="2373421"/>
            <a:ext cx="944217" cy="53671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350995BF-9D24-0343-A46F-61F037CE41BA}"/>
              </a:ext>
            </a:extLst>
          </p:cNvPr>
          <p:cNvSpPr/>
          <p:nvPr/>
        </p:nvSpPr>
        <p:spPr>
          <a:xfrm>
            <a:off x="8125811" y="380637"/>
            <a:ext cx="1683207" cy="74172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821598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17F784A2-FAFD-4361-C732-34CA61974D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333" y="0"/>
            <a:ext cx="11345333" cy="6858000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C5078D62-9536-39D1-E82F-C1342D4DB025}"/>
              </a:ext>
            </a:extLst>
          </p:cNvPr>
          <p:cNvSpPr/>
          <p:nvPr/>
        </p:nvSpPr>
        <p:spPr>
          <a:xfrm>
            <a:off x="2951921" y="377687"/>
            <a:ext cx="944217" cy="53671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41C07BF-EFB7-D784-4B2A-AF2FDACB4C81}"/>
              </a:ext>
            </a:extLst>
          </p:cNvPr>
          <p:cNvSpPr/>
          <p:nvPr/>
        </p:nvSpPr>
        <p:spPr>
          <a:xfrm>
            <a:off x="1351722" y="2305877"/>
            <a:ext cx="1500808" cy="53671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80E4A1C6-47F7-239E-CAB9-85F285FAA61D}"/>
              </a:ext>
            </a:extLst>
          </p:cNvPr>
          <p:cNvSpPr txBox="1"/>
          <p:nvPr/>
        </p:nvSpPr>
        <p:spPr>
          <a:xfrm>
            <a:off x="7463547" y="193021"/>
            <a:ext cx="211819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rgbClr val="C00000"/>
                </a:solidFill>
              </a:rPr>
              <a:t>練</a:t>
            </a:r>
            <a:r>
              <a:rPr lang="en-US" altLang="zh-TW" sz="3600" dirty="0">
                <a:solidFill>
                  <a:srgbClr val="C00000"/>
                </a:solidFill>
              </a:rPr>
              <a:t>10min</a:t>
            </a:r>
            <a:endParaRPr lang="zh-TW" altLang="en-US" sz="3600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F6AE3E8E-1E28-965D-376D-69D72DE3100F}"/>
              </a:ext>
            </a:extLst>
          </p:cNvPr>
          <p:cNvSpPr txBox="1"/>
          <p:nvPr/>
        </p:nvSpPr>
        <p:spPr>
          <a:xfrm>
            <a:off x="3165243" y="1828823"/>
            <a:ext cx="902675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800" dirty="0">
                <a:solidFill>
                  <a:srgbClr val="FF0000"/>
                </a:solidFill>
              </a:rPr>
              <a:t>不會覆蓋原檔案，因為檔名會不同，新檔名可加</a:t>
            </a:r>
            <a:r>
              <a:rPr lang="en-US" altLang="zh-TW" sz="2800" dirty="0">
                <a:solidFill>
                  <a:srgbClr val="FF0000"/>
                </a:solidFill>
              </a:rPr>
              <a:t>ok</a:t>
            </a:r>
            <a:r>
              <a:rPr lang="zh-TW" altLang="en-US" sz="2800" dirty="0">
                <a:solidFill>
                  <a:srgbClr val="FF0000"/>
                </a:solidFill>
              </a:rPr>
              <a:t>做區別，其他設定先不動</a:t>
            </a:r>
          </a:p>
        </p:txBody>
      </p:sp>
    </p:spTree>
    <p:extLst>
      <p:ext uri="{BB962C8B-B14F-4D97-AF65-F5344CB8AC3E}">
        <p14:creationId xmlns:p14="http://schemas.microsoft.com/office/powerpoint/2010/main" val="20858708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981200" y="404664"/>
            <a:ext cx="8229600" cy="990600"/>
          </a:xfrm>
        </p:spPr>
        <p:txBody>
          <a:bodyPr>
            <a:normAutofit/>
          </a:bodyPr>
          <a:lstStyle/>
          <a:p>
            <a:r>
              <a:rPr lang="en-US" altLang="zh-TW" b="1" dirty="0">
                <a:solidFill>
                  <a:srgbClr val="00B050"/>
                </a:solidFill>
              </a:rPr>
              <a:t>6-2   Bootstrap</a:t>
            </a:r>
            <a:r>
              <a:rPr lang="zh-TW" altLang="en-US" b="1" dirty="0">
                <a:solidFill>
                  <a:srgbClr val="00B050"/>
                </a:solidFill>
              </a:rPr>
              <a:t>的版本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066800" y="1412776"/>
            <a:ext cx="10420350" cy="4824536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altLang="zh-TW" dirty="0"/>
              <a:t>Bootstrap</a:t>
            </a:r>
            <a:r>
              <a:rPr lang="zh-TW" altLang="en-US" dirty="0"/>
              <a:t>和目前主流的瀏覽器相容，最新版為</a:t>
            </a:r>
            <a:r>
              <a:rPr lang="en-US" altLang="zh-TW" dirty="0"/>
              <a:t>5.0</a:t>
            </a:r>
            <a:r>
              <a:rPr lang="zh-TW" altLang="en-US" dirty="0"/>
              <a:t>版，比較顯著的改變如下：</a:t>
            </a:r>
          </a:p>
          <a:p>
            <a:pPr algn="just"/>
            <a:r>
              <a:rPr lang="zh-TW" altLang="en-US" dirty="0"/>
              <a:t>移除</a:t>
            </a:r>
            <a:r>
              <a:rPr lang="en-US" altLang="zh-TW" dirty="0"/>
              <a:t>jQuery</a:t>
            </a:r>
          </a:p>
          <a:p>
            <a:pPr algn="just"/>
            <a:r>
              <a:rPr lang="zh-TW" altLang="en-US" dirty="0"/>
              <a:t>單純使用</a:t>
            </a:r>
            <a:r>
              <a:rPr lang="en-US" altLang="zh-TW" dirty="0"/>
              <a:t>JavaScript</a:t>
            </a:r>
          </a:p>
          <a:p>
            <a:pPr algn="just"/>
            <a:r>
              <a:rPr lang="zh-TW" altLang="en-US" dirty="0"/>
              <a:t>放棄支援</a:t>
            </a:r>
            <a:r>
              <a:rPr lang="en-US" altLang="zh-TW" dirty="0"/>
              <a:t>Internet Explorer 10/11 </a:t>
            </a:r>
            <a:r>
              <a:rPr lang="en-US" altLang="zh-TW" dirty="0">
                <a:solidFill>
                  <a:srgbClr val="FF0000"/>
                </a:solidFill>
              </a:rPr>
              <a:t>(</a:t>
            </a:r>
            <a:r>
              <a:rPr lang="zh-TW" altLang="en-US" dirty="0">
                <a:solidFill>
                  <a:srgbClr val="FF0000"/>
                </a:solidFill>
              </a:rPr>
              <a:t>若須要支援舊版</a:t>
            </a:r>
            <a:r>
              <a:rPr lang="en-US" altLang="zh-TW" dirty="0">
                <a:solidFill>
                  <a:srgbClr val="FF0000"/>
                </a:solidFill>
              </a:rPr>
              <a:t>IE</a:t>
            </a:r>
            <a:r>
              <a:rPr lang="zh-TW" altLang="en-US" dirty="0">
                <a:solidFill>
                  <a:srgbClr val="FF0000"/>
                </a:solidFill>
              </a:rPr>
              <a:t>就得降到</a:t>
            </a:r>
            <a:r>
              <a:rPr lang="en-US" altLang="zh-TW" dirty="0">
                <a:solidFill>
                  <a:srgbClr val="FF0000"/>
                </a:solidFill>
              </a:rPr>
              <a:t>V4)</a:t>
            </a:r>
          </a:p>
          <a:p>
            <a:pPr algn="just"/>
            <a:r>
              <a:rPr lang="zh-TW" altLang="en-US" dirty="0"/>
              <a:t>改良的網格系統 </a:t>
            </a:r>
            <a:r>
              <a:rPr lang="en-US" altLang="zh-TW" dirty="0"/>
              <a:t>(grid system)</a:t>
            </a:r>
          </a:p>
          <a:p>
            <a:pPr algn="just"/>
            <a:r>
              <a:rPr lang="zh-TW" altLang="en-US" dirty="0"/>
              <a:t>改良的文件說明 </a:t>
            </a:r>
            <a:r>
              <a:rPr lang="en-US" altLang="zh-TW" dirty="0"/>
              <a:t>(documentation)</a:t>
            </a:r>
          </a:p>
          <a:p>
            <a:pPr algn="just"/>
            <a:r>
              <a:rPr lang="zh-TW" altLang="en-US" dirty="0"/>
              <a:t>改良的表單</a:t>
            </a:r>
          </a:p>
          <a:p>
            <a:pPr algn="just"/>
            <a:r>
              <a:rPr lang="zh-TW" altLang="en-US" dirty="0"/>
              <a:t>改良的模組化</a:t>
            </a:r>
          </a:p>
          <a:p>
            <a:pPr algn="just"/>
            <a:r>
              <a:rPr lang="zh-TW" altLang="en-US" dirty="0"/>
              <a:t>全新的響應式字型 </a:t>
            </a:r>
            <a:r>
              <a:rPr lang="en-US" altLang="zh-TW" dirty="0"/>
              <a:t>(responsive font)</a:t>
            </a:r>
          </a:p>
          <a:p>
            <a:pPr algn="just"/>
            <a:r>
              <a:rPr lang="zh-TW" altLang="en-US" dirty="0"/>
              <a:t>全新的公用程式與</a:t>
            </a:r>
            <a:r>
              <a:rPr lang="en-US" altLang="zh-TW" dirty="0"/>
              <a:t>API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536D6D22-FE99-E3C7-30C9-F0F297872D46}"/>
              </a:ext>
            </a:extLst>
          </p:cNvPr>
          <p:cNvSpPr txBox="1"/>
          <p:nvPr/>
        </p:nvSpPr>
        <p:spPr>
          <a:xfrm>
            <a:off x="6352162" y="3560323"/>
            <a:ext cx="559340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400" dirty="0"/>
              <a:t>bs</a:t>
            </a:r>
            <a:r>
              <a:rPr lang="zh-TW" altLang="en-US" sz="2400" dirty="0"/>
              <a:t>優點是高效率完成，但</a:t>
            </a:r>
            <a:r>
              <a:rPr lang="en-US" altLang="zh-TW" sz="2400" dirty="0"/>
              <a:t>BS</a:t>
            </a:r>
            <a:r>
              <a:rPr lang="zh-TW" altLang="en-US" sz="2400" dirty="0"/>
              <a:t>也是有極限，無法完全滿足須求，所以也是須要再搭配</a:t>
            </a:r>
            <a:r>
              <a:rPr lang="en-US" altLang="zh-TW" sz="2400" dirty="0" err="1"/>
              <a:t>css</a:t>
            </a:r>
            <a:r>
              <a:rPr lang="zh-TW" altLang="en-US" sz="2400" dirty="0"/>
              <a:t>、</a:t>
            </a:r>
            <a:r>
              <a:rPr lang="en-US" altLang="zh-TW" sz="2400" dirty="0" err="1"/>
              <a:t>js</a:t>
            </a:r>
            <a:r>
              <a:rPr lang="zh-TW" altLang="en-US" sz="2400" dirty="0"/>
              <a:t>來輔助</a:t>
            </a:r>
          </a:p>
        </p:txBody>
      </p:sp>
    </p:spTree>
    <p:extLst>
      <p:ext uri="{BB962C8B-B14F-4D97-AF65-F5344CB8AC3E}">
        <p14:creationId xmlns:p14="http://schemas.microsoft.com/office/powerpoint/2010/main" val="28784973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0DB18568-297F-0BE0-B950-CB161F7BBC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258"/>
            <a:ext cx="6544588" cy="3343742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5825C9B5-4C01-B19C-4AC6-5E5750712D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911197"/>
            <a:ext cx="6354062" cy="1428949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D4550F33-2817-D8A0-DEF3-092EEE9222E4}"/>
              </a:ext>
            </a:extLst>
          </p:cNvPr>
          <p:cNvSpPr txBox="1"/>
          <p:nvPr/>
        </p:nvSpPr>
        <p:spPr>
          <a:xfrm>
            <a:off x="7824665" y="506896"/>
            <a:ext cx="41847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找官網，英文才是，下面六角的中文翻譯可參考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688D50FD-1FBB-CAA2-66F7-1AA21A19C3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7270" y="1458289"/>
            <a:ext cx="5001323" cy="1019317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FF3461C5-9112-0CB7-485D-F69E58029CE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2358" y="2424497"/>
            <a:ext cx="5439534" cy="4887007"/>
          </a:xfrm>
          <a:prstGeom prst="rect">
            <a:avLst/>
          </a:prstGeom>
        </p:spPr>
      </p:pic>
      <p:sp>
        <p:nvSpPr>
          <p:cNvPr id="11" name="矩形 10">
            <a:extLst>
              <a:ext uri="{FF2B5EF4-FFF2-40B4-BE49-F238E27FC236}">
                <a16:creationId xmlns:a16="http://schemas.microsoft.com/office/drawing/2014/main" id="{076E8C18-8F97-3B0B-8B46-72697D4B55B5}"/>
              </a:ext>
            </a:extLst>
          </p:cNvPr>
          <p:cNvSpPr/>
          <p:nvPr/>
        </p:nvSpPr>
        <p:spPr>
          <a:xfrm>
            <a:off x="1558373" y="154849"/>
            <a:ext cx="944217" cy="53671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6C879D43-EF09-97FA-D781-0A31111252ED}"/>
              </a:ext>
            </a:extLst>
          </p:cNvPr>
          <p:cNvSpPr/>
          <p:nvPr/>
        </p:nvSpPr>
        <p:spPr>
          <a:xfrm>
            <a:off x="139148" y="1333499"/>
            <a:ext cx="1194352" cy="75247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92CA2E4-B1D0-D268-1E60-E324CFA9D4D6}"/>
              </a:ext>
            </a:extLst>
          </p:cNvPr>
          <p:cNvSpPr/>
          <p:nvPr/>
        </p:nvSpPr>
        <p:spPr>
          <a:xfrm>
            <a:off x="139148" y="4113807"/>
            <a:ext cx="1194352" cy="5172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741C395-0666-FB8F-23AB-B26728FB0202}"/>
              </a:ext>
            </a:extLst>
          </p:cNvPr>
          <p:cNvSpPr/>
          <p:nvPr/>
        </p:nvSpPr>
        <p:spPr>
          <a:xfrm>
            <a:off x="8302073" y="4211881"/>
            <a:ext cx="1842052" cy="70922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1EB96C38-911B-AF17-2A67-C5CC77BAA6E7}"/>
              </a:ext>
            </a:extLst>
          </p:cNvPr>
          <p:cNvSpPr txBox="1"/>
          <p:nvPr/>
        </p:nvSpPr>
        <p:spPr>
          <a:xfrm>
            <a:off x="9544050" y="3728316"/>
            <a:ext cx="23391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800" b="1" dirty="0">
                <a:solidFill>
                  <a:srgbClr val="FF0000"/>
                </a:solidFill>
              </a:rPr>
              <a:t>已包含這兩個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D9F8E32F-00B2-1B56-86D6-71E036D64DE5}"/>
              </a:ext>
            </a:extLst>
          </p:cNvPr>
          <p:cNvSpPr/>
          <p:nvPr/>
        </p:nvSpPr>
        <p:spPr>
          <a:xfrm>
            <a:off x="6702429" y="6148772"/>
            <a:ext cx="1431921" cy="70922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0CC0F6E2-C327-EA8D-73CC-3A50B94B004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17502" y="44625"/>
            <a:ext cx="4692251" cy="1413504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4B6BE569-244D-031D-190E-C0D3AF1A4E6E}"/>
              </a:ext>
            </a:extLst>
          </p:cNvPr>
          <p:cNvSpPr/>
          <p:nvPr/>
        </p:nvSpPr>
        <p:spPr>
          <a:xfrm>
            <a:off x="4006506" y="307249"/>
            <a:ext cx="3230873" cy="53671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7F4CF156-E09B-AEA4-02BC-4B69EEE64FF4}"/>
              </a:ext>
            </a:extLst>
          </p:cNvPr>
          <p:cNvSpPr txBox="1"/>
          <p:nvPr/>
        </p:nvSpPr>
        <p:spPr>
          <a:xfrm>
            <a:off x="340822" y="5444836"/>
            <a:ext cx="50032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/>
              <a:t>版本說明：最新是</a:t>
            </a:r>
            <a:r>
              <a:rPr lang="en-US" altLang="zh-TW" dirty="0"/>
              <a:t>v5</a:t>
            </a:r>
            <a:r>
              <a:rPr lang="zh-TW" altLang="en-US" dirty="0"/>
              <a:t>，網路上應該還很多</a:t>
            </a:r>
            <a:r>
              <a:rPr lang="en-US" altLang="zh-TW" dirty="0"/>
              <a:t>v3</a:t>
            </a:r>
            <a:r>
              <a:rPr lang="zh-TW" altLang="en-US" dirty="0"/>
              <a:t>、</a:t>
            </a:r>
            <a:r>
              <a:rPr lang="en-US" altLang="zh-TW" dirty="0"/>
              <a:t>v4</a:t>
            </a:r>
          </a:p>
          <a:p>
            <a:r>
              <a:rPr lang="zh-TW" altLang="en-US" dirty="0"/>
              <a:t>官網及六角有蠻多說明可參考</a:t>
            </a:r>
          </a:p>
        </p:txBody>
      </p:sp>
      <p:pic>
        <p:nvPicPr>
          <p:cNvPr id="14" name="圖片 13">
            <a:extLst>
              <a:ext uri="{FF2B5EF4-FFF2-40B4-BE49-F238E27FC236}">
                <a16:creationId xmlns:a16="http://schemas.microsoft.com/office/drawing/2014/main" id="{C283D4EA-61F2-CD3B-27E4-5557E6DC599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68307" y="915552"/>
            <a:ext cx="2114845" cy="1971950"/>
          </a:xfrm>
          <a:prstGeom prst="rect">
            <a:avLst/>
          </a:prstGeom>
        </p:spPr>
      </p:pic>
      <p:sp>
        <p:nvSpPr>
          <p:cNvPr id="18" name="矩形 17">
            <a:extLst>
              <a:ext uri="{FF2B5EF4-FFF2-40B4-BE49-F238E27FC236}">
                <a16:creationId xmlns:a16="http://schemas.microsoft.com/office/drawing/2014/main" id="{92CF4187-2B6B-220A-B524-9E4EF2D0DD28}"/>
              </a:ext>
            </a:extLst>
          </p:cNvPr>
          <p:cNvSpPr/>
          <p:nvPr/>
        </p:nvSpPr>
        <p:spPr>
          <a:xfrm>
            <a:off x="340821" y="2943483"/>
            <a:ext cx="4264429" cy="5172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942704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F0F73E0C-371D-C650-60B1-DCA58186EE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991" y="2314371"/>
            <a:ext cx="11946017" cy="2915057"/>
          </a:xfrm>
          <a:prstGeom prst="rect">
            <a:avLst/>
          </a:prstGeom>
        </p:spPr>
      </p:pic>
      <p:sp>
        <p:nvSpPr>
          <p:cNvPr id="4" name="內容版面配置區 2">
            <a:extLst>
              <a:ext uri="{FF2B5EF4-FFF2-40B4-BE49-F238E27FC236}">
                <a16:creationId xmlns:a16="http://schemas.microsoft.com/office/drawing/2014/main" id="{7C7C1215-EDE5-7FA7-14DE-314CD56C8E93}"/>
              </a:ext>
            </a:extLst>
          </p:cNvPr>
          <p:cNvSpPr txBox="1">
            <a:spLocks/>
          </p:cNvSpPr>
          <p:nvPr/>
        </p:nvSpPr>
        <p:spPr>
          <a:xfrm>
            <a:off x="161013" y="81907"/>
            <a:ext cx="7859037" cy="50581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9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88720" indent="-1371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3716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5544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73736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9202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None/>
            </a:pPr>
            <a:r>
              <a:rPr lang="zh-TW" altLang="en-US" dirty="0">
                <a:solidFill>
                  <a:srgbClr val="C00000"/>
                </a:solidFill>
              </a:rPr>
              <a:t>方式一：下載 </a:t>
            </a:r>
            <a:r>
              <a:rPr lang="en-US" altLang="zh-TW" dirty="0">
                <a:solidFill>
                  <a:srgbClr val="C00000"/>
                </a:solidFill>
              </a:rPr>
              <a:t>Bootstrap </a:t>
            </a:r>
            <a:r>
              <a:rPr lang="zh-TW" altLang="en-US" dirty="0">
                <a:solidFill>
                  <a:srgbClr val="C00000"/>
                </a:solidFill>
              </a:rPr>
              <a:t>套件   </a:t>
            </a:r>
            <a:r>
              <a:rPr lang="en-US" altLang="zh-TW" dirty="0">
                <a:solidFill>
                  <a:srgbClr val="C00000"/>
                </a:solidFill>
              </a:rPr>
              <a:t>test1.html </a:t>
            </a:r>
            <a:r>
              <a:rPr lang="zh-TW" altLang="en-US" dirty="0">
                <a:solidFill>
                  <a:srgbClr val="C00000"/>
                </a:solidFill>
              </a:rPr>
              <a:t>練</a:t>
            </a:r>
            <a:r>
              <a:rPr lang="en-US" altLang="zh-TW" dirty="0">
                <a:solidFill>
                  <a:srgbClr val="C00000"/>
                </a:solidFill>
              </a:rPr>
              <a:t>10min</a:t>
            </a:r>
          </a:p>
          <a:p>
            <a:pPr marL="0" indent="0" algn="just">
              <a:buNone/>
            </a:pPr>
            <a:endParaRPr lang="en-US" altLang="zh-TW" sz="1000" dirty="0"/>
          </a:p>
          <a:p>
            <a:pPr marL="457200" indent="-457200" algn="just">
              <a:buFont typeface="+mj-lt"/>
              <a:buAutoNum type="arabicPeriod"/>
            </a:pPr>
            <a:r>
              <a:rPr lang="zh-TW" altLang="en-US" sz="2000" dirty="0"/>
              <a:t>到</a:t>
            </a:r>
            <a:r>
              <a:rPr lang="en-US" altLang="zh-TW" sz="2000" dirty="0"/>
              <a:t>Bootstrap</a:t>
            </a:r>
            <a:r>
              <a:rPr lang="zh-TW" altLang="en-US" sz="2000" dirty="0"/>
              <a:t>官方網站下載</a:t>
            </a:r>
            <a:r>
              <a:rPr lang="en-US" altLang="zh-TW" sz="2000" dirty="0"/>
              <a:t>Bootstrap</a:t>
            </a:r>
            <a:r>
              <a:rPr lang="zh-TW" altLang="en-US" sz="2000" dirty="0"/>
              <a:t>套件。</a:t>
            </a:r>
          </a:p>
          <a:p>
            <a:pPr marL="457200" indent="-457200" algn="just">
              <a:buFont typeface="+mj-lt"/>
              <a:buAutoNum type="arabicPeriod"/>
            </a:pPr>
            <a:r>
              <a:rPr lang="zh-TW" altLang="en-US" sz="2000" dirty="0"/>
              <a:t>將下載回來的檔案解壓縮，將之複製到</a:t>
            </a:r>
            <a:r>
              <a:rPr lang="zh-TW" altLang="en-US" b="1" dirty="0">
                <a:solidFill>
                  <a:srgbClr val="FF0000"/>
                </a:solidFill>
              </a:rPr>
              <a:t>網站</a:t>
            </a:r>
            <a:r>
              <a:rPr lang="en-US" altLang="zh-TW" b="1" dirty="0">
                <a:solidFill>
                  <a:srgbClr val="FF0000"/>
                </a:solidFill>
              </a:rPr>
              <a:t>(</a:t>
            </a:r>
            <a:r>
              <a:rPr lang="zh-TW" altLang="en-US" b="1" dirty="0">
                <a:solidFill>
                  <a:srgbClr val="FF0000"/>
                </a:solidFill>
              </a:rPr>
              <a:t>放網頁的根目錄</a:t>
            </a:r>
            <a:r>
              <a:rPr lang="zh-TW" altLang="en-US" sz="2000" dirty="0"/>
              <a:t>。</a:t>
            </a:r>
          </a:p>
          <a:p>
            <a:pPr marL="457200" indent="-457200" algn="just">
              <a:buFont typeface="+mj-lt"/>
              <a:buAutoNum type="arabicPeriod"/>
            </a:pPr>
            <a:r>
              <a:rPr lang="zh-TW" altLang="en-US" sz="2000" dirty="0"/>
              <a:t>在網頁的 </a:t>
            </a:r>
            <a:r>
              <a:rPr lang="en-US" altLang="zh-TW" sz="2000" dirty="0"/>
              <a:t>&lt;head&gt; </a:t>
            </a:r>
            <a:r>
              <a:rPr lang="zh-TW" altLang="en-US" sz="2000" dirty="0"/>
              <a:t>區塊加入第</a:t>
            </a:r>
            <a:r>
              <a:rPr lang="en-US" altLang="zh-TW" sz="2000" dirty="0"/>
              <a:t>05</a:t>
            </a:r>
            <a:r>
              <a:rPr lang="zh-TW" altLang="en-US" sz="2000" dirty="0"/>
              <a:t>行的程式碼，至於第</a:t>
            </a:r>
            <a:r>
              <a:rPr lang="en-US" altLang="zh-TW" sz="2000" dirty="0"/>
              <a:t>09</a:t>
            </a:r>
            <a:r>
              <a:rPr lang="zh-TW" altLang="en-US" sz="2000" dirty="0"/>
              <a:t>行的程式碼則可以放在 </a:t>
            </a:r>
            <a:r>
              <a:rPr lang="en-US" altLang="zh-TW" sz="2000" dirty="0"/>
              <a:t>&lt;/body&gt; </a:t>
            </a:r>
            <a:r>
              <a:rPr lang="zh-TW" altLang="en-US" sz="2000" dirty="0"/>
              <a:t>結尾標籤前面。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925AACA4-3D48-3B52-A5BB-D85A9321D4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1069" y="309437"/>
            <a:ext cx="5992061" cy="1800476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A5A53C94-0735-A63F-0F25-BB0C617E0B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013" y="5258003"/>
            <a:ext cx="2438740" cy="1371791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3DBF16B6-CBA9-3D2E-A398-FD115A04A3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05654" y="5719026"/>
            <a:ext cx="828791" cy="733527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81FF47FD-2F3B-D731-1027-DFEE218490DE}"/>
              </a:ext>
            </a:extLst>
          </p:cNvPr>
          <p:cNvSpPr txBox="1"/>
          <p:nvPr/>
        </p:nvSpPr>
        <p:spPr>
          <a:xfrm>
            <a:off x="2819400" y="5762625"/>
            <a:ext cx="33842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DEMO 6</a:t>
            </a:r>
            <a:r>
              <a:rPr lang="zh-TW" altLang="en-US" dirty="0"/>
              <a:t>、</a:t>
            </a:r>
            <a:r>
              <a:rPr lang="en-US" altLang="zh-TW" dirty="0"/>
              <a:t>7</a:t>
            </a:r>
            <a:r>
              <a:rPr lang="zh-TW" altLang="en-US" dirty="0"/>
              <a:t>行雖有加引用檔案了</a:t>
            </a:r>
            <a:endParaRPr lang="en-US" altLang="zh-TW" dirty="0"/>
          </a:p>
          <a:p>
            <a:r>
              <a:rPr lang="zh-TW" altLang="en-US" dirty="0"/>
              <a:t>但</a:t>
            </a:r>
            <a:r>
              <a:rPr lang="zh-TW" altLang="en-US" dirty="0">
                <a:solidFill>
                  <a:srgbClr val="FF0000"/>
                </a:solidFill>
              </a:rPr>
              <a:t>還是沒作用</a:t>
            </a:r>
            <a:r>
              <a:rPr lang="en-US" altLang="zh-TW" dirty="0"/>
              <a:t>(</a:t>
            </a:r>
            <a:r>
              <a:rPr lang="zh-TW" altLang="en-US" dirty="0"/>
              <a:t>下頁介紹</a:t>
            </a:r>
            <a:r>
              <a:rPr lang="en-US" altLang="zh-TW" dirty="0"/>
              <a:t>bs</a:t>
            </a:r>
            <a:r>
              <a:rPr lang="zh-TW" altLang="en-US" dirty="0"/>
              <a:t>結構</a:t>
            </a:r>
            <a:r>
              <a:rPr lang="en-US" altLang="zh-TW" dirty="0"/>
              <a:t>)</a:t>
            </a:r>
            <a:endParaRPr lang="zh-TW" altLang="en-US" dirty="0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366586B-24A5-2954-6D0A-5A904BED0FE0}"/>
              </a:ext>
            </a:extLst>
          </p:cNvPr>
          <p:cNvSpPr/>
          <p:nvPr/>
        </p:nvSpPr>
        <p:spPr>
          <a:xfrm>
            <a:off x="218163" y="5719025"/>
            <a:ext cx="2048787" cy="20552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74F49D1-70F2-260C-FA28-5579555846B5}"/>
              </a:ext>
            </a:extLst>
          </p:cNvPr>
          <p:cNvSpPr/>
          <p:nvPr/>
        </p:nvSpPr>
        <p:spPr>
          <a:xfrm>
            <a:off x="6901898" y="5719025"/>
            <a:ext cx="2775502" cy="70922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3A31773D-2B40-D749-2CED-02573F4AD40C}"/>
              </a:ext>
            </a:extLst>
          </p:cNvPr>
          <p:cNvSpPr txBox="1"/>
          <p:nvPr/>
        </p:nvSpPr>
        <p:spPr>
          <a:xfrm>
            <a:off x="8943975" y="1209675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solidFill>
                  <a:srgbClr val="FF0000"/>
                </a:solidFill>
              </a:rPr>
              <a:t>裏面這層才是我們要的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81B1960-179B-41B2-3179-FC2DC5A72261}"/>
              </a:ext>
            </a:extLst>
          </p:cNvPr>
          <p:cNvSpPr/>
          <p:nvPr/>
        </p:nvSpPr>
        <p:spPr>
          <a:xfrm>
            <a:off x="9768324" y="280862"/>
            <a:ext cx="1668641" cy="39561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18DF4EE-0A69-58E3-6B3D-6DB2A6D7E71F}"/>
              </a:ext>
            </a:extLst>
          </p:cNvPr>
          <p:cNvSpPr/>
          <p:nvPr/>
        </p:nvSpPr>
        <p:spPr>
          <a:xfrm>
            <a:off x="7605654" y="4256631"/>
            <a:ext cx="1110329" cy="41264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30FC9AC-B455-1EFC-AB4D-66E49C55ADE3}"/>
              </a:ext>
            </a:extLst>
          </p:cNvPr>
          <p:cNvSpPr/>
          <p:nvPr/>
        </p:nvSpPr>
        <p:spPr>
          <a:xfrm>
            <a:off x="10063513" y="3971283"/>
            <a:ext cx="1110329" cy="41264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384890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270F3AC0-0E07-EC02-6616-06D53B0E1F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6299"/>
            <a:ext cx="12192000" cy="5945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04349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FDCC686-3FBA-7532-1257-C3E979AFD3EB}"/>
              </a:ext>
            </a:extLst>
          </p:cNvPr>
          <p:cNvSpPr txBox="1">
            <a:spLocks/>
          </p:cNvSpPr>
          <p:nvPr/>
        </p:nvSpPr>
        <p:spPr>
          <a:xfrm>
            <a:off x="457200" y="476672"/>
            <a:ext cx="11734800" cy="9906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b="1" dirty="0">
                <a:solidFill>
                  <a:srgbClr val="00B050"/>
                </a:solidFill>
              </a:rPr>
              <a:t>6-4   Bootstrap </a:t>
            </a:r>
            <a:r>
              <a:rPr lang="zh-TW" altLang="en-US" b="1" dirty="0">
                <a:solidFill>
                  <a:srgbClr val="00B050"/>
                </a:solidFill>
              </a:rPr>
              <a:t>網頁的基本結構，練習</a:t>
            </a:r>
            <a:r>
              <a:rPr lang="en-US" altLang="zh-TW" b="1" dirty="0">
                <a:solidFill>
                  <a:srgbClr val="00B050"/>
                </a:solidFill>
              </a:rPr>
              <a:t>test1.html</a:t>
            </a:r>
            <a:endParaRPr lang="zh-TW" altLang="en-US" b="1" dirty="0">
              <a:solidFill>
                <a:srgbClr val="00B050"/>
              </a:solidFill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4E280D1C-8903-43FE-FAB6-4BCC79663B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8017" y="1062146"/>
            <a:ext cx="6592220" cy="2457793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F75C69F3-E55E-0F90-5EE9-83C5042150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290" y="3562487"/>
            <a:ext cx="5544324" cy="504895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A301E3B2-9FC0-7CAC-A064-2C5BAC0F6A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620" y="5638006"/>
            <a:ext cx="11336332" cy="1114581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3F4A982D-7046-CABC-958F-1EE8D74B6F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290" y="4152477"/>
            <a:ext cx="5973009" cy="1152686"/>
          </a:xfrm>
          <a:prstGeom prst="rect">
            <a:avLst/>
          </a:prstGeom>
        </p:spPr>
      </p:pic>
      <p:sp>
        <p:nvSpPr>
          <p:cNvPr id="13" name="文字方塊 12">
            <a:extLst>
              <a:ext uri="{FF2B5EF4-FFF2-40B4-BE49-F238E27FC236}">
                <a16:creationId xmlns:a16="http://schemas.microsoft.com/office/drawing/2014/main" id="{ADA7363D-F723-EE81-CDDF-79B2F10B1411}"/>
              </a:ext>
            </a:extLst>
          </p:cNvPr>
          <p:cNvSpPr txBox="1"/>
          <p:nvPr/>
        </p:nvSpPr>
        <p:spPr>
          <a:xfrm>
            <a:off x="6848475" y="3759741"/>
            <a:ext cx="5416868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400" dirty="0"/>
              <a:t>一、加</a:t>
            </a:r>
            <a:r>
              <a:rPr lang="en-US" altLang="zh-TW" sz="2400" dirty="0"/>
              <a:t>container</a:t>
            </a:r>
            <a:r>
              <a:rPr lang="zh-TW" altLang="en-US" sz="2400" dirty="0"/>
              <a:t>就可看出效果</a:t>
            </a:r>
            <a:endParaRPr lang="en-US" altLang="zh-TW" sz="2400" dirty="0"/>
          </a:p>
          <a:p>
            <a:r>
              <a:rPr lang="zh-TW" altLang="en-US" sz="2400" dirty="0"/>
              <a:t>二、比較下面滿版和上面標準的差異，</a:t>
            </a:r>
            <a:endParaRPr lang="en-US" altLang="zh-TW" sz="2400" dirty="0"/>
          </a:p>
          <a:p>
            <a:r>
              <a:rPr lang="zh-TW" altLang="en-US" sz="2400" dirty="0"/>
              <a:t>雖名為滿版但也還有一點留空白，</a:t>
            </a:r>
            <a:endParaRPr lang="en-US" altLang="zh-TW" sz="2400" dirty="0"/>
          </a:p>
          <a:p>
            <a:r>
              <a:rPr lang="zh-TW" altLang="en-US" sz="2400" dirty="0"/>
              <a:t>因為在行動裝置上不可全滿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74221F73-BBBC-F628-F7AA-6BB1C62599C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1095049"/>
            <a:ext cx="3410426" cy="2333951"/>
          </a:xfrm>
          <a:prstGeom prst="rect">
            <a:avLst/>
          </a:prstGeom>
        </p:spPr>
      </p:pic>
      <p:sp>
        <p:nvSpPr>
          <p:cNvPr id="7" name="箭號: 向右 6">
            <a:extLst>
              <a:ext uri="{FF2B5EF4-FFF2-40B4-BE49-F238E27FC236}">
                <a16:creationId xmlns:a16="http://schemas.microsoft.com/office/drawing/2014/main" id="{F1164B9E-529D-1BEB-562C-21B6C02A54A3}"/>
              </a:ext>
            </a:extLst>
          </p:cNvPr>
          <p:cNvSpPr/>
          <p:nvPr/>
        </p:nvSpPr>
        <p:spPr>
          <a:xfrm>
            <a:off x="4348264" y="2110902"/>
            <a:ext cx="547990" cy="28210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335032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58788F5-0151-90D8-5193-EF48362E66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Test1.html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8DB90282-C1D4-ABA3-7373-2F2F9C0750FB}"/>
              </a:ext>
            </a:extLst>
          </p:cNvPr>
          <p:cNvSpPr txBox="1"/>
          <p:nvPr/>
        </p:nvSpPr>
        <p:spPr>
          <a:xfrm>
            <a:off x="838201" y="2108200"/>
            <a:ext cx="11099800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800" dirty="0"/>
              <a:t>一、用</a:t>
            </a:r>
            <a:r>
              <a:rPr lang="en-US" altLang="zh-TW" sz="2800" dirty="0"/>
              <a:t>f12</a:t>
            </a:r>
            <a:r>
              <a:rPr lang="zh-TW" altLang="en-US" sz="2800" dirty="0"/>
              <a:t>來檢視，發現有問題，手機裝置時，字變很小，原因是沒加</a:t>
            </a:r>
            <a:r>
              <a:rPr lang="en-US" altLang="zh-TW" sz="2800" dirty="0"/>
              <a:t>    &lt;meta name="viewport" content="width=device-width, initial-scale=1.0"&gt;</a:t>
            </a:r>
          </a:p>
          <a:p>
            <a:r>
              <a:rPr lang="zh-TW" altLang="en-US" sz="2800" dirty="0"/>
              <a:t>二、再說明一次結構的重要，舉例官網</a:t>
            </a:r>
            <a:r>
              <a:rPr lang="en-US" altLang="zh-TW" sz="2800" dirty="0"/>
              <a:t>layout-col</a:t>
            </a:r>
          </a:p>
          <a:p>
            <a:r>
              <a:rPr lang="zh-TW" altLang="en-US" sz="2800" dirty="0"/>
              <a:t>三、一列三欄說明是均分分佈，加顏色或寬度</a:t>
            </a:r>
            <a:r>
              <a:rPr lang="en-US" altLang="zh-TW" sz="2800" dirty="0"/>
              <a:t>3/6/3</a:t>
            </a:r>
          </a:p>
          <a:p>
            <a:r>
              <a:rPr lang="zh-TW" altLang="en-US" sz="2800" dirty="0"/>
              <a:t>四、</a:t>
            </a:r>
            <a:r>
              <a:rPr lang="en-US" altLang="zh-TW" sz="2800" dirty="0"/>
              <a:t>demo</a:t>
            </a:r>
            <a:r>
              <a:rPr lang="zh-TW" altLang="en-US" sz="2800" dirty="0"/>
              <a:t>超過</a:t>
            </a:r>
            <a:r>
              <a:rPr lang="en-US" altLang="zh-TW" sz="2800" dirty="0"/>
              <a:t>12</a:t>
            </a:r>
            <a:r>
              <a:rPr lang="zh-TW" altLang="en-US" sz="2800" dirty="0"/>
              <a:t>等分會放到第二行</a:t>
            </a:r>
            <a:r>
              <a:rPr lang="en-US" altLang="zh-TW" sz="2800" dirty="0"/>
              <a:t>3/9/3</a:t>
            </a:r>
          </a:p>
          <a:p>
            <a:endParaRPr lang="en-US" altLang="zh-TW" sz="2800" dirty="0"/>
          </a:p>
          <a:p>
            <a:endParaRPr lang="zh-TW" altLang="en-US" sz="2800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F67A750C-198F-044D-2954-2881B4989C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2207" y="1366793"/>
            <a:ext cx="3915321" cy="647790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47367C51-79F5-0A6B-F3BF-A30D863BEA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2978" y="-53333"/>
            <a:ext cx="4029637" cy="2162477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2175B18F-A4EB-10FE-00F9-51C891F1D2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2404" y="615859"/>
            <a:ext cx="4467849" cy="333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41266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BFA13BFC-45C7-5F06-EDB6-A259E022FC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88" y="0"/>
            <a:ext cx="6973273" cy="2229161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7D4278C0-D5C7-29DB-64E8-3EF278D04F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88" y="2785898"/>
            <a:ext cx="7154273" cy="2353003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74533355-35C1-47DB-8DD9-D3BF2FF65A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288" y="2267261"/>
            <a:ext cx="11374437" cy="523948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3C5F46FC-D72D-28B6-AB7C-767B6ECEBBBD}"/>
              </a:ext>
            </a:extLst>
          </p:cNvPr>
          <p:cNvSpPr txBox="1"/>
          <p:nvPr/>
        </p:nvSpPr>
        <p:spPr>
          <a:xfrm>
            <a:off x="7362825" y="1114580"/>
            <a:ext cx="2954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/>
              <a:t>不指定寬度的話，就是均分</a:t>
            </a:r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60A301A0-01E8-414A-D751-786C46C767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288" y="5190970"/>
            <a:ext cx="11355385" cy="533474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BD42C23F-35C2-61D9-9BB4-7E85F2349212}"/>
              </a:ext>
            </a:extLst>
          </p:cNvPr>
          <p:cNvSpPr txBox="1"/>
          <p:nvPr/>
        </p:nvSpPr>
        <p:spPr>
          <a:xfrm>
            <a:off x="7610475" y="3714750"/>
            <a:ext cx="35173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/>
              <a:t>若超過</a:t>
            </a:r>
            <a:r>
              <a:rPr lang="en-US" altLang="zh-TW" dirty="0"/>
              <a:t>12</a:t>
            </a:r>
            <a:r>
              <a:rPr lang="zh-TW" altLang="en-US" dirty="0"/>
              <a:t>格的話，會排到下一行</a:t>
            </a:r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69F560E6-B6E5-AA60-D335-D9496FD8827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175" y="5599890"/>
            <a:ext cx="9930516" cy="1453475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53F97213-C462-81C8-AFC6-45554E3DE8AF}"/>
              </a:ext>
            </a:extLst>
          </p:cNvPr>
          <p:cNvSpPr txBox="1">
            <a:spLocks/>
          </p:cNvSpPr>
          <p:nvPr/>
        </p:nvSpPr>
        <p:spPr>
          <a:xfrm>
            <a:off x="7258561" y="131414"/>
            <a:ext cx="3575858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dirty="0"/>
              <a:t>Test1.html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1135517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0996B5CF-F0BF-FCFB-E8CC-8B649694C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5A1BAB6-6502-3D77-150C-02D42B4080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Test2.html  bs5</a:t>
            </a:r>
            <a:r>
              <a:rPr lang="zh-TW" altLang="en-US" dirty="0"/>
              <a:t>範本製作 </a:t>
            </a:r>
            <a:r>
              <a:rPr lang="zh-TW" altLang="en-US" dirty="0">
                <a:hlinkClick r:id="rId3"/>
              </a:rPr>
              <a:t>產生器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5A70E20E-DFE4-2F90-1C36-A501BBA49666}"/>
              </a:ext>
            </a:extLst>
          </p:cNvPr>
          <p:cNvSpPr txBox="1"/>
          <p:nvPr/>
        </p:nvSpPr>
        <p:spPr>
          <a:xfrm>
            <a:off x="254000" y="2108200"/>
            <a:ext cx="11684001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800" dirty="0"/>
              <a:t>一、</a:t>
            </a:r>
            <a:r>
              <a:rPr lang="en-US" altLang="zh-TW" sz="2800" dirty="0"/>
              <a:t>download</a:t>
            </a:r>
            <a:r>
              <a:rPr lang="zh-TW" altLang="en-US" sz="2800" dirty="0"/>
              <a:t>頁面下面有</a:t>
            </a:r>
            <a:r>
              <a:rPr lang="en-US" altLang="zh-TW" sz="2800" dirty="0" err="1"/>
              <a:t>cdn</a:t>
            </a:r>
            <a:r>
              <a:rPr lang="zh-TW" altLang="en-US" sz="2800" dirty="0"/>
              <a:t>連結</a:t>
            </a:r>
            <a:endParaRPr lang="en-US" altLang="zh-TW" sz="2800" dirty="0"/>
          </a:p>
          <a:p>
            <a:r>
              <a:rPr lang="zh-TW" altLang="en-US" sz="2800" dirty="0"/>
              <a:t>二、先選第一個連結，把</a:t>
            </a:r>
            <a:r>
              <a:rPr lang="en-US" altLang="zh-TW" sz="2800" dirty="0" err="1"/>
              <a:t>js</a:t>
            </a:r>
            <a:r>
              <a:rPr lang="en-US" altLang="zh-TW" sz="2800" dirty="0"/>
              <a:t>(bundle) mark</a:t>
            </a:r>
            <a:r>
              <a:rPr lang="zh-TW" altLang="en-US" sz="2800" dirty="0"/>
              <a:t>掉</a:t>
            </a:r>
            <a:r>
              <a:rPr lang="en-US" altLang="zh-TW" sz="2800" dirty="0"/>
              <a:t>(</a:t>
            </a:r>
            <a:r>
              <a:rPr lang="en-US" altLang="zh-TW" sz="2800" dirty="0" err="1"/>
              <a:t>js+popper</a:t>
            </a:r>
            <a:r>
              <a:rPr lang="zh-TW" altLang="en-US" sz="2800" dirty="0"/>
              <a:t>合在一起</a:t>
            </a:r>
            <a:r>
              <a:rPr lang="en-US" altLang="zh-TW" sz="2800" dirty="0"/>
              <a:t>)</a:t>
            </a:r>
            <a:r>
              <a:rPr lang="zh-TW" altLang="en-US" sz="2800" dirty="0"/>
              <a:t>，再</a:t>
            </a:r>
            <a:r>
              <a:rPr lang="en-US" altLang="zh-TW" sz="2800" dirty="0"/>
              <a:t>copy</a:t>
            </a:r>
            <a:r>
              <a:rPr lang="zh-TW" altLang="en-US" sz="2800" dirty="0"/>
              <a:t>第二個連結，是把</a:t>
            </a:r>
            <a:r>
              <a:rPr lang="en-US" altLang="zh-TW" sz="2800" dirty="0"/>
              <a:t>popper</a:t>
            </a:r>
            <a:r>
              <a:rPr lang="zh-TW" altLang="en-US" sz="2800" dirty="0"/>
              <a:t>分開來，</a:t>
            </a:r>
            <a:r>
              <a:rPr lang="en-US" altLang="zh-TW" sz="2800" dirty="0"/>
              <a:t>popper</a:t>
            </a:r>
            <a:r>
              <a:rPr lang="zh-TW" altLang="en-US" sz="2800" dirty="0"/>
              <a:t>是有一些彈出提示框功能</a:t>
            </a:r>
            <a:endParaRPr lang="en-US" altLang="zh-TW" sz="2800" dirty="0"/>
          </a:p>
          <a:p>
            <a:r>
              <a:rPr lang="zh-TW" altLang="en-US" sz="2800" dirty="0"/>
              <a:t>三、</a:t>
            </a:r>
            <a:r>
              <a:rPr lang="en-US" altLang="zh-TW" sz="2800" dirty="0"/>
              <a:t>https://snippet-generator.app/</a:t>
            </a:r>
          </a:p>
          <a:p>
            <a:r>
              <a:rPr lang="zh-TW" altLang="en-US" sz="2800" dirty="0"/>
              <a:t>四、</a:t>
            </a:r>
            <a:endParaRPr lang="en-US" altLang="zh-TW" sz="2800" dirty="0"/>
          </a:p>
          <a:p>
            <a:endParaRPr lang="en-US" altLang="zh-TW" sz="2800" dirty="0"/>
          </a:p>
          <a:p>
            <a:endParaRPr lang="zh-TW" altLang="en-US" sz="2800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14F1C779-FB08-7775-DB79-B237DD385F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556" y="4785856"/>
            <a:ext cx="10307488" cy="1114581"/>
          </a:xfrm>
          <a:prstGeom prst="rect">
            <a:avLst/>
          </a:prstGeom>
        </p:spPr>
      </p:pic>
      <p:pic>
        <p:nvPicPr>
          <p:cNvPr id="4" name="圖片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34400" y="946725"/>
            <a:ext cx="3898232" cy="14879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08878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590675" y="1102644"/>
            <a:ext cx="7787208" cy="515435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TW" dirty="0"/>
              <a:t>Bootstrap </a:t>
            </a:r>
            <a:r>
              <a:rPr lang="zh-TW" altLang="en-US" dirty="0"/>
              <a:t>提供 </a:t>
            </a:r>
            <a:r>
              <a:rPr lang="en-US" altLang="zh-TW" dirty="0"/>
              <a:t>.container </a:t>
            </a:r>
            <a:r>
              <a:rPr lang="zh-TW" altLang="en-US" dirty="0"/>
              <a:t>、 </a:t>
            </a:r>
            <a:r>
              <a:rPr lang="en-US" altLang="zh-TW" dirty="0"/>
              <a:t>.container-fluid </a:t>
            </a:r>
            <a:r>
              <a:rPr lang="zh-TW" altLang="en-US" dirty="0"/>
              <a:t>和</a:t>
            </a:r>
            <a:r>
              <a:rPr lang="en-US" altLang="zh-TW" dirty="0"/>
              <a:t>.container-{breakpoint}</a:t>
            </a:r>
            <a:r>
              <a:rPr lang="zh-TW" altLang="en-US" dirty="0"/>
              <a:t> 三種容器，下面是一個例子。</a:t>
            </a:r>
          </a:p>
        </p:txBody>
      </p:sp>
      <p:sp>
        <p:nvSpPr>
          <p:cNvPr id="4" name="內容版面配置區 2">
            <a:extLst>
              <a:ext uri="{FF2B5EF4-FFF2-40B4-BE49-F238E27FC236}">
                <a16:creationId xmlns:a16="http://schemas.microsoft.com/office/drawing/2014/main" id="{1D0E8889-394E-45EB-AD63-27FE775FB222}"/>
              </a:ext>
            </a:extLst>
          </p:cNvPr>
          <p:cNvSpPr txBox="1">
            <a:spLocks/>
          </p:cNvSpPr>
          <p:nvPr/>
        </p:nvSpPr>
        <p:spPr>
          <a:xfrm>
            <a:off x="1981200" y="734481"/>
            <a:ext cx="4834880" cy="532656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4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0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90000"/>
              <a:buFont typeface="Arial" pitchFamily="34" charset="0"/>
              <a:buChar char="•"/>
              <a:defRPr sz="18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4pPr>
            <a:lvl5pPr marL="1188720" indent="-1371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400" kern="1200" baseline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5pPr>
            <a:lvl6pPr marL="13716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6pPr>
            <a:lvl7pPr marL="15544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7pPr>
            <a:lvl8pPr marL="173736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8pPr>
            <a:lvl9pPr marL="19202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zh-TW" dirty="0"/>
              <a:t>6-5-2</a:t>
            </a:r>
            <a:r>
              <a:rPr lang="zh-TW" altLang="en-US" dirty="0"/>
              <a:t>　容器</a:t>
            </a:r>
            <a:endParaRPr lang="en-US" altLang="zh-TW" dirty="0"/>
          </a:p>
        </p:txBody>
      </p:sp>
      <p:sp>
        <p:nvSpPr>
          <p:cNvPr id="15" name="內容版面配置區 2">
            <a:extLst>
              <a:ext uri="{FF2B5EF4-FFF2-40B4-BE49-F238E27FC236}">
                <a16:creationId xmlns:a16="http://schemas.microsoft.com/office/drawing/2014/main" id="{306776B7-C0DB-4BF7-B0B3-033B41E39ED1}"/>
              </a:ext>
            </a:extLst>
          </p:cNvPr>
          <p:cNvSpPr txBox="1">
            <a:spLocks/>
          </p:cNvSpPr>
          <p:nvPr/>
        </p:nvSpPr>
        <p:spPr>
          <a:xfrm>
            <a:off x="714375" y="2348880"/>
            <a:ext cx="8910017" cy="43948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 fontScale="92500" lnSpcReduction="10000"/>
          </a:bodyPr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dirty="0"/>
              <a:t>&lt;div class="</a:t>
            </a:r>
            <a:r>
              <a:rPr lang="en-US" altLang="zh-TW" dirty="0">
                <a:solidFill>
                  <a:srgbClr val="FF0000"/>
                </a:solidFill>
              </a:rPr>
              <a:t>container</a:t>
            </a:r>
            <a:r>
              <a:rPr lang="en-US" altLang="zh-TW" dirty="0"/>
              <a:t>"&gt;</a:t>
            </a:r>
          </a:p>
          <a:p>
            <a:r>
              <a:rPr lang="en-US" altLang="zh-TW" dirty="0"/>
              <a:t>  &lt;div class="row"&gt;</a:t>
            </a:r>
          </a:p>
          <a:p>
            <a:r>
              <a:rPr lang="en-US" altLang="zh-TW" dirty="0"/>
              <a:t>    &lt;div class="col-8"&gt;</a:t>
            </a:r>
            <a:r>
              <a:rPr lang="zh-TW" altLang="en-US" dirty="0"/>
              <a:t>區塊</a:t>
            </a:r>
            <a:r>
              <a:rPr lang="en-US" altLang="zh-TW" dirty="0"/>
              <a:t>1&lt;/div&gt;</a:t>
            </a:r>
          </a:p>
          <a:p>
            <a:r>
              <a:rPr lang="en-US" altLang="zh-TW" dirty="0"/>
              <a:t>    &lt;div class="col-4"&gt;</a:t>
            </a:r>
            <a:r>
              <a:rPr lang="zh-TW" altLang="en-US" dirty="0"/>
              <a:t>區塊</a:t>
            </a:r>
            <a:r>
              <a:rPr lang="en-US" altLang="zh-TW" dirty="0"/>
              <a:t>2&lt;/div&gt;</a:t>
            </a:r>
          </a:p>
          <a:p>
            <a:r>
              <a:rPr lang="en-US" altLang="zh-TW" dirty="0"/>
              <a:t>  &lt;/div&gt;</a:t>
            </a:r>
          </a:p>
          <a:p>
            <a:r>
              <a:rPr lang="en-US" altLang="zh-TW" dirty="0"/>
              <a:t>&lt;/div&gt;</a:t>
            </a:r>
          </a:p>
          <a:p>
            <a:r>
              <a:rPr lang="en-US" altLang="zh-TW" dirty="0"/>
              <a:t>&lt;div class="container</a:t>
            </a:r>
            <a:r>
              <a:rPr lang="en-US" altLang="zh-TW" dirty="0">
                <a:solidFill>
                  <a:srgbClr val="FF0000"/>
                </a:solidFill>
              </a:rPr>
              <a:t>-md</a:t>
            </a:r>
            <a:r>
              <a:rPr lang="en-US" altLang="zh-TW" dirty="0"/>
              <a:t>"&gt;</a:t>
            </a:r>
          </a:p>
          <a:p>
            <a:r>
              <a:rPr lang="en-US" altLang="zh-TW" dirty="0"/>
              <a:t>  &lt;div class="row"&gt;</a:t>
            </a:r>
          </a:p>
          <a:p>
            <a:r>
              <a:rPr lang="en-US" altLang="zh-TW" dirty="0"/>
              <a:t>    &lt;div class="col-8"&gt;</a:t>
            </a:r>
            <a:r>
              <a:rPr lang="zh-TW" altLang="en-US" dirty="0"/>
              <a:t>區塊</a:t>
            </a:r>
            <a:r>
              <a:rPr lang="en-US" altLang="zh-TW" dirty="0"/>
              <a:t>3&lt;/div&gt;</a:t>
            </a:r>
          </a:p>
          <a:p>
            <a:r>
              <a:rPr lang="en-US" altLang="zh-TW" dirty="0"/>
              <a:t>    &lt;div class="col-4"&gt;</a:t>
            </a:r>
            <a:r>
              <a:rPr lang="zh-TW" altLang="en-US" dirty="0"/>
              <a:t>區塊</a:t>
            </a:r>
            <a:r>
              <a:rPr lang="en-US" altLang="zh-TW" dirty="0"/>
              <a:t>4&lt;/div&gt;</a:t>
            </a:r>
          </a:p>
          <a:p>
            <a:r>
              <a:rPr lang="en-US" altLang="zh-TW" dirty="0"/>
              <a:t>  &lt;/div&gt;</a:t>
            </a:r>
          </a:p>
          <a:p>
            <a:r>
              <a:rPr lang="en-US" altLang="zh-TW" dirty="0"/>
              <a:t>&lt;/div&gt;</a:t>
            </a:r>
          </a:p>
          <a:p>
            <a:r>
              <a:rPr lang="en-US" altLang="zh-TW" dirty="0"/>
              <a:t>&lt;div class="container</a:t>
            </a:r>
            <a:r>
              <a:rPr lang="en-US" altLang="zh-TW" dirty="0">
                <a:solidFill>
                  <a:srgbClr val="FF0000"/>
                </a:solidFill>
              </a:rPr>
              <a:t>-fluid</a:t>
            </a:r>
            <a:r>
              <a:rPr lang="en-US" altLang="zh-TW" dirty="0"/>
              <a:t>"&gt;</a:t>
            </a:r>
          </a:p>
          <a:p>
            <a:r>
              <a:rPr lang="en-US" altLang="zh-TW" dirty="0"/>
              <a:t>  &lt;div class="row"&gt;</a:t>
            </a:r>
          </a:p>
          <a:p>
            <a:r>
              <a:rPr lang="en-US" altLang="zh-TW" dirty="0"/>
              <a:t>    &lt;div class="col-8"&gt;</a:t>
            </a:r>
            <a:r>
              <a:rPr lang="zh-TW" altLang="en-US" dirty="0"/>
              <a:t>區塊</a:t>
            </a:r>
            <a:r>
              <a:rPr lang="en-US" altLang="zh-TW" dirty="0"/>
              <a:t>5&lt;/div&gt;</a:t>
            </a:r>
          </a:p>
          <a:p>
            <a:r>
              <a:rPr lang="en-US" altLang="zh-TW" dirty="0"/>
              <a:t>    &lt;div class="col-4"&gt;</a:t>
            </a:r>
            <a:r>
              <a:rPr lang="zh-TW" altLang="en-US" dirty="0"/>
              <a:t>區塊</a:t>
            </a:r>
            <a:r>
              <a:rPr lang="en-US" altLang="zh-TW" dirty="0"/>
              <a:t>6&lt;/div&gt;</a:t>
            </a:r>
          </a:p>
          <a:p>
            <a:r>
              <a:rPr lang="en-US" altLang="zh-TW" dirty="0"/>
              <a:t>  &lt;/div&gt;</a:t>
            </a:r>
          </a:p>
          <a:p>
            <a:r>
              <a:rPr lang="en-US" altLang="zh-TW" dirty="0"/>
              <a:t>&lt;/div&gt;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5D6096CC-8AD2-451A-9112-308CC4ADDAB6}"/>
              </a:ext>
            </a:extLst>
          </p:cNvPr>
          <p:cNvPicPr/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5167"/>
          <a:stretch/>
        </p:blipFill>
        <p:spPr bwMode="auto">
          <a:xfrm>
            <a:off x="6085039" y="2903042"/>
            <a:ext cx="2721448" cy="1077046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E062EF3C-6E39-436C-BB53-67CC8A3B4B45}"/>
              </a:ext>
            </a:extLst>
          </p:cNvPr>
          <p:cNvPicPr/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5166"/>
          <a:stretch/>
        </p:blipFill>
        <p:spPr bwMode="auto">
          <a:xfrm>
            <a:off x="5663952" y="4149080"/>
            <a:ext cx="3567916" cy="1077046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E62B6EB7-D104-43EE-AA61-DDD02AC35E57}"/>
              </a:ext>
            </a:extLst>
          </p:cNvPr>
          <p:cNvPicPr/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5166"/>
          <a:stretch/>
        </p:blipFill>
        <p:spPr bwMode="auto">
          <a:xfrm>
            <a:off x="4911231" y="5395118"/>
            <a:ext cx="4682239" cy="1077046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4515794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3EC41D10-0FC2-D712-3B51-991DC505F6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569" y="109373"/>
            <a:ext cx="9935962" cy="2353003"/>
          </a:xfrm>
          <a:prstGeom prst="rect">
            <a:avLst/>
          </a:prstGeo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DD5CAE50-0790-2E52-A5CD-2DA9F3FAD388}"/>
              </a:ext>
            </a:extLst>
          </p:cNvPr>
          <p:cNvSpPr/>
          <p:nvPr/>
        </p:nvSpPr>
        <p:spPr>
          <a:xfrm>
            <a:off x="5200650" y="1076325"/>
            <a:ext cx="295275" cy="4000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3C7F4CC-A95A-6D17-11DC-AD71221211D9}"/>
              </a:ext>
            </a:extLst>
          </p:cNvPr>
          <p:cNvSpPr/>
          <p:nvPr/>
        </p:nvSpPr>
        <p:spPr>
          <a:xfrm>
            <a:off x="114300" y="367097"/>
            <a:ext cx="1647825" cy="50920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9312A522-73E4-CB07-74D6-1965C7ABD978}"/>
              </a:ext>
            </a:extLst>
          </p:cNvPr>
          <p:cNvSpPr txBox="1"/>
          <p:nvPr/>
        </p:nvSpPr>
        <p:spPr>
          <a:xfrm>
            <a:off x="10353675" y="495300"/>
            <a:ext cx="184537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/>
              <a:t>按</a:t>
            </a:r>
            <a:r>
              <a:rPr lang="en-US" altLang="zh-TW" dirty="0"/>
              <a:t>F12</a:t>
            </a:r>
            <a:r>
              <a:rPr lang="zh-TW" altLang="en-US" dirty="0"/>
              <a:t>進入</a:t>
            </a:r>
            <a:endParaRPr lang="en-US" altLang="zh-TW" dirty="0"/>
          </a:p>
          <a:p>
            <a:r>
              <a:rPr lang="zh-TW" altLang="en-US" dirty="0"/>
              <a:t>可選不同裝置</a:t>
            </a:r>
            <a:endParaRPr lang="en-US" altLang="zh-TW" dirty="0"/>
          </a:p>
          <a:p>
            <a:r>
              <a:rPr lang="zh-TW" altLang="en-US" dirty="0"/>
              <a:t>但有個問題：</a:t>
            </a:r>
            <a:endParaRPr lang="en-US" altLang="zh-TW" dirty="0"/>
          </a:p>
          <a:p>
            <a:r>
              <a:rPr lang="zh-TW" altLang="en-US" dirty="0"/>
              <a:t>選</a:t>
            </a:r>
            <a:r>
              <a:rPr lang="en-US" altLang="zh-TW" dirty="0"/>
              <a:t>IPHONE14</a:t>
            </a:r>
            <a:r>
              <a:rPr lang="zh-TW" altLang="en-US" dirty="0"/>
              <a:t>時，</a:t>
            </a:r>
            <a:endParaRPr lang="en-US" altLang="zh-TW" dirty="0"/>
          </a:p>
          <a:p>
            <a:r>
              <a:rPr lang="zh-TW" altLang="en-US" dirty="0"/>
              <a:t>字太小看不清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425E5C2C-8E69-F73E-A277-9F98C4C67B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1975" y="2547511"/>
            <a:ext cx="7715922" cy="4391671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FFD09778-A626-4D49-61E6-28FF5384369E}"/>
              </a:ext>
            </a:extLst>
          </p:cNvPr>
          <p:cNvSpPr txBox="1"/>
          <p:nvPr/>
        </p:nvSpPr>
        <p:spPr>
          <a:xfrm>
            <a:off x="8810625" y="2962275"/>
            <a:ext cx="34163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/>
              <a:t>要再加上這行設定，調整寬度</a:t>
            </a:r>
            <a:endParaRPr lang="en-US" altLang="zh-TW" dirty="0"/>
          </a:p>
          <a:p>
            <a:r>
              <a:rPr lang="zh-TW" altLang="en-US" dirty="0"/>
              <a:t>以配合裝置，尤其是高解析度的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D93FEA2-F306-63C9-02C9-5EFF146CE36F}"/>
              </a:ext>
            </a:extLst>
          </p:cNvPr>
          <p:cNvSpPr/>
          <p:nvPr/>
        </p:nvSpPr>
        <p:spPr>
          <a:xfrm>
            <a:off x="2057400" y="4790971"/>
            <a:ext cx="3276600" cy="195765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" name="箭號: ＞形 12">
            <a:extLst>
              <a:ext uri="{FF2B5EF4-FFF2-40B4-BE49-F238E27FC236}">
                <a16:creationId xmlns:a16="http://schemas.microsoft.com/office/drawing/2014/main" id="{EBC2E299-B605-7FB3-B270-0FA68FFF7BC1}"/>
              </a:ext>
            </a:extLst>
          </p:cNvPr>
          <p:cNvSpPr/>
          <p:nvPr/>
        </p:nvSpPr>
        <p:spPr>
          <a:xfrm>
            <a:off x="9982200" y="5953125"/>
            <a:ext cx="484632" cy="484632"/>
          </a:xfrm>
          <a:prstGeom prst="chevr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/>
              </a:solidFill>
            </a:endParaRPr>
          </a:p>
        </p:txBody>
      </p:sp>
      <p:cxnSp>
        <p:nvCxnSpPr>
          <p:cNvPr id="7" name="直線單箭頭接點 6">
            <a:extLst>
              <a:ext uri="{FF2B5EF4-FFF2-40B4-BE49-F238E27FC236}">
                <a16:creationId xmlns:a16="http://schemas.microsoft.com/office/drawing/2014/main" id="{E993F1C1-A1F0-8675-6D9B-A5B94891DB4E}"/>
              </a:ext>
            </a:extLst>
          </p:cNvPr>
          <p:cNvCxnSpPr/>
          <p:nvPr/>
        </p:nvCxnSpPr>
        <p:spPr>
          <a:xfrm flipH="1" flipV="1">
            <a:off x="8404698" y="2733472"/>
            <a:ext cx="330740" cy="37937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34517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694852A2-64BD-BDBD-B33A-FE79A97020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79694"/>
            <a:ext cx="12192000" cy="5498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33760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981200" y="476672"/>
            <a:ext cx="8229600" cy="990600"/>
          </a:xfrm>
        </p:spPr>
        <p:txBody>
          <a:bodyPr/>
          <a:lstStyle/>
          <a:p>
            <a:r>
              <a:rPr lang="en-US" altLang="zh-TW" b="1" dirty="0">
                <a:solidFill>
                  <a:srgbClr val="00B050"/>
                </a:solidFill>
              </a:rPr>
              <a:t>   </a:t>
            </a:r>
            <a:r>
              <a:rPr lang="zh-TW" altLang="en-US" b="1" dirty="0">
                <a:solidFill>
                  <a:srgbClr val="00B050"/>
                </a:solidFill>
              </a:rPr>
              <a:t>網格系統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981200" y="1496130"/>
            <a:ext cx="8003232" cy="5010337"/>
          </a:xfrm>
        </p:spPr>
        <p:txBody>
          <a:bodyPr>
            <a:normAutofit/>
          </a:bodyPr>
          <a:lstStyle/>
          <a:p>
            <a:pPr algn="just"/>
            <a:r>
              <a:rPr lang="en-US" altLang="zh-TW" dirty="0"/>
              <a:t>Bootstrap </a:t>
            </a:r>
            <a:r>
              <a:rPr lang="zh-TW" altLang="en-US" dirty="0"/>
              <a:t>提供一個網格系統 </a:t>
            </a:r>
            <a:r>
              <a:rPr lang="en-US" altLang="zh-TW" dirty="0"/>
              <a:t>(gird system)</a:t>
            </a:r>
            <a:r>
              <a:rPr lang="zh-TW" altLang="en-US" dirty="0"/>
              <a:t>，讓使用者藉此開發適應不同裝置的網頁，達到響應式網頁設計的目的。</a:t>
            </a:r>
            <a:endParaRPr lang="en-US" altLang="zh-TW" dirty="0"/>
          </a:p>
          <a:p>
            <a:pPr algn="just"/>
            <a:endParaRPr lang="en-US" altLang="zh-TW" sz="1000" dirty="0"/>
          </a:p>
          <a:p>
            <a:pPr algn="just"/>
            <a:r>
              <a:rPr lang="en-US" altLang="zh-TW" dirty="0"/>
              <a:t>Bootstrap</a:t>
            </a:r>
            <a:r>
              <a:rPr lang="zh-TW" altLang="en-US" dirty="0"/>
              <a:t>針對不同的螢幕尺寸提供如下的網格選項：</a:t>
            </a:r>
            <a:endParaRPr lang="en-US" altLang="zh-TW" dirty="0"/>
          </a:p>
          <a:p>
            <a:pPr algn="just"/>
            <a:endParaRPr lang="en-US" altLang="zh-TW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6D444014-7FBE-4ACE-9C8B-AC5D9C8026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1644" y="3212976"/>
            <a:ext cx="8632828" cy="3427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80290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981200" y="836712"/>
            <a:ext cx="7859216" cy="3312368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zh-TW" altLang="en-US" dirty="0"/>
              <a:t>舉例來說，假設要使用三個 </a:t>
            </a:r>
            <a:r>
              <a:rPr lang="en-US" altLang="zh-TW" dirty="0"/>
              <a:t>&lt;div&gt; </a:t>
            </a:r>
            <a:r>
              <a:rPr lang="zh-TW" altLang="en-US" dirty="0"/>
              <a:t>元素製作寬度為</a:t>
            </a:r>
            <a:r>
              <a:rPr lang="en-US" altLang="zh-TW" dirty="0"/>
              <a:t>1:3:2</a:t>
            </a:r>
            <a:r>
              <a:rPr lang="zh-TW" altLang="en-US" dirty="0"/>
              <a:t>的三欄版面，如下圖，我們可以撰寫如下的程式碼：</a:t>
            </a:r>
            <a:endParaRPr lang="en-US" altLang="zh-TW" dirty="0"/>
          </a:p>
        </p:txBody>
      </p:sp>
      <p:sp>
        <p:nvSpPr>
          <p:cNvPr id="6" name="內容版面配置區 2">
            <a:extLst>
              <a:ext uri="{FF2B5EF4-FFF2-40B4-BE49-F238E27FC236}">
                <a16:creationId xmlns:a16="http://schemas.microsoft.com/office/drawing/2014/main" id="{4CC1465C-01EA-42E7-8DC4-B1A47787CBEC}"/>
              </a:ext>
            </a:extLst>
          </p:cNvPr>
          <p:cNvSpPr txBox="1">
            <a:spLocks/>
          </p:cNvSpPr>
          <p:nvPr/>
        </p:nvSpPr>
        <p:spPr>
          <a:xfrm>
            <a:off x="2135560" y="3716972"/>
            <a:ext cx="7704856" cy="252028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 fontScale="92500" lnSpcReduction="10000"/>
          </a:bodyPr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&lt;div class="container"&gt;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&lt;div class="row"&gt;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&lt;div class="col-sm-2"&gt;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  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區塊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1 of 3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&lt;div class="col-sm-6"&gt;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  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區塊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2 of 3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&lt;div class="col-sm-4"&gt;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  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區塊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3 of 3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&lt;/div&gt;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D4CABAFE-3EBD-443C-8C06-9E0ED67A03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5002" y="1916832"/>
            <a:ext cx="4493247" cy="1566834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BA0569A7-6848-464D-8E63-76010AD35A80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4972832" y="3716972"/>
            <a:ext cx="4867584" cy="1260151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DB149A7C-5A75-4D03-9808-844B64B2FA23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6384033" y="5060864"/>
            <a:ext cx="2687697" cy="1176388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9141052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981200" y="1340769"/>
            <a:ext cx="7787208" cy="5154353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altLang="zh-TW" dirty="0"/>
              <a:t>Bootstrap</a:t>
            </a:r>
            <a:r>
              <a:rPr lang="zh-TW" altLang="en-US" dirty="0"/>
              <a:t>提供下列</a:t>
            </a:r>
            <a:r>
              <a:rPr lang="en-US" altLang="zh-TW" dirty="0"/>
              <a:t>6</a:t>
            </a:r>
            <a:r>
              <a:rPr lang="zh-TW" altLang="en-US" dirty="0"/>
              <a:t>個預設的斷點。</a:t>
            </a:r>
          </a:p>
        </p:txBody>
      </p:sp>
      <p:sp>
        <p:nvSpPr>
          <p:cNvPr id="4" name="內容版面配置區 2">
            <a:extLst>
              <a:ext uri="{FF2B5EF4-FFF2-40B4-BE49-F238E27FC236}">
                <a16:creationId xmlns:a16="http://schemas.microsoft.com/office/drawing/2014/main" id="{1D0E8889-394E-45EB-AD63-27FE775FB222}"/>
              </a:ext>
            </a:extLst>
          </p:cNvPr>
          <p:cNvSpPr txBox="1">
            <a:spLocks/>
          </p:cNvSpPr>
          <p:nvPr/>
        </p:nvSpPr>
        <p:spPr>
          <a:xfrm>
            <a:off x="1981200" y="734481"/>
            <a:ext cx="4834880" cy="532656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4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0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90000"/>
              <a:buFont typeface="Arial" pitchFamily="34" charset="0"/>
              <a:buChar char="•"/>
              <a:defRPr sz="18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4pPr>
            <a:lvl5pPr marL="1188720" indent="-1371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400" kern="1200" baseline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5pPr>
            <a:lvl6pPr marL="13716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6pPr>
            <a:lvl7pPr marL="15544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7pPr>
            <a:lvl8pPr marL="173736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8pPr>
            <a:lvl9pPr marL="19202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7A7A7A"/>
              </a:buClr>
              <a:buNone/>
            </a:pPr>
            <a:r>
              <a:rPr lang="en-US" altLang="zh-TW" dirty="0">
                <a:solidFill>
                  <a:srgbClr val="DC5924"/>
                </a:solidFill>
                <a:latin typeface="Constantia"/>
                <a:ea typeface="標楷體" panose="03000509000000000000" pitchFamily="65" charset="-120"/>
              </a:rPr>
              <a:t>6-5-1</a:t>
            </a:r>
            <a:r>
              <a:rPr lang="zh-TW" altLang="en-US" dirty="0">
                <a:solidFill>
                  <a:srgbClr val="DC5924"/>
                </a:solidFill>
                <a:latin typeface="Constantia"/>
                <a:ea typeface="標楷體" panose="03000509000000000000" pitchFamily="65" charset="-120"/>
              </a:rPr>
              <a:t>　斷點</a:t>
            </a:r>
            <a:endParaRPr lang="en-US" altLang="zh-TW" dirty="0">
              <a:solidFill>
                <a:srgbClr val="DC5924"/>
              </a:solidFill>
              <a:latin typeface="Constantia"/>
              <a:ea typeface="標楷體" panose="03000509000000000000" pitchFamily="65" charset="-120"/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B8C7465A-DAD7-49A3-9BE8-3FD5DD779C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575" y="1942355"/>
            <a:ext cx="10277575" cy="4657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7010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C48CB13-1427-2AA7-AED6-526A06A5C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365125"/>
            <a:ext cx="10515600" cy="1325563"/>
          </a:xfrm>
        </p:spPr>
        <p:txBody>
          <a:bodyPr/>
          <a:lstStyle/>
          <a:p>
            <a:r>
              <a:rPr lang="zh-TW" altLang="en-US" dirty="0"/>
              <a:t>斷點設定考量</a:t>
            </a:r>
            <a:r>
              <a:rPr lang="en-US" altLang="zh-TW" dirty="0"/>
              <a:t>test3.html</a:t>
            </a:r>
            <a:endParaRPr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AB0044A2-4B41-C5E0-4F32-7EF74C8256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394" y="1466773"/>
            <a:ext cx="5630061" cy="1105054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0A23C218-4D5E-71DC-828A-D1394C0A1E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5686" y="0"/>
            <a:ext cx="4315427" cy="3029373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72961155-9A6D-AEB8-6FC9-BFE955914EE3}"/>
              </a:ext>
            </a:extLst>
          </p:cNvPr>
          <p:cNvSpPr txBox="1"/>
          <p:nvPr/>
        </p:nvSpPr>
        <p:spPr>
          <a:xfrm>
            <a:off x="10582275" y="542925"/>
            <a:ext cx="133882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/>
              <a:t>桌機</a:t>
            </a:r>
            <a:r>
              <a:rPr lang="en-US" altLang="zh-TW" dirty="0"/>
              <a:t>OK</a:t>
            </a:r>
          </a:p>
          <a:p>
            <a:r>
              <a:rPr lang="zh-TW" altLang="en-US" dirty="0"/>
              <a:t>但手機不優</a:t>
            </a: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815ABC9E-6297-6CA9-1F66-E320144C8F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070" y="3029373"/>
            <a:ext cx="6601746" cy="1028844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83210490-AF53-A90A-810B-8FAB03F7AC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4394" y="4286129"/>
            <a:ext cx="8326012" cy="1733792"/>
          </a:xfrm>
          <a:prstGeom prst="rect">
            <a:avLst/>
          </a:prstGeom>
        </p:spPr>
      </p:pic>
      <p:sp>
        <p:nvSpPr>
          <p:cNvPr id="13" name="文字方塊 12">
            <a:extLst>
              <a:ext uri="{FF2B5EF4-FFF2-40B4-BE49-F238E27FC236}">
                <a16:creationId xmlns:a16="http://schemas.microsoft.com/office/drawing/2014/main" id="{86223BCC-538C-E8BC-F7A2-8213BF46052A}"/>
              </a:ext>
            </a:extLst>
          </p:cNvPr>
          <p:cNvSpPr txBox="1"/>
          <p:nvPr/>
        </p:nvSpPr>
        <p:spPr>
          <a:xfrm>
            <a:off x="7315200" y="3117601"/>
            <a:ext cx="480131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400" dirty="0"/>
              <a:t>當</a:t>
            </a:r>
            <a:r>
              <a:rPr lang="en-US" altLang="zh-TW" sz="2400" dirty="0"/>
              <a:t>&gt;768PX</a:t>
            </a:r>
            <a:r>
              <a:rPr lang="zh-TW" altLang="en-US" sz="2400" dirty="0"/>
              <a:t>時，用</a:t>
            </a:r>
            <a:r>
              <a:rPr lang="en-US" altLang="zh-TW" sz="2400" dirty="0"/>
              <a:t>3:9</a:t>
            </a:r>
            <a:r>
              <a:rPr lang="zh-TW" altLang="en-US" sz="2400" dirty="0"/>
              <a:t>方式區分</a:t>
            </a:r>
            <a:endParaRPr lang="en-US" altLang="zh-TW" sz="2400" dirty="0"/>
          </a:p>
          <a:p>
            <a:r>
              <a:rPr lang="zh-TW" altLang="en-US" sz="2400" dirty="0"/>
              <a:t>小於時，就用</a:t>
            </a:r>
            <a:r>
              <a:rPr lang="en-US" altLang="zh-TW" sz="2400" dirty="0"/>
              <a:t>col-12</a:t>
            </a:r>
            <a:r>
              <a:rPr lang="zh-TW" altLang="en-US" sz="2400" dirty="0"/>
              <a:t>設定，</a:t>
            </a:r>
            <a:endParaRPr lang="en-US" altLang="zh-TW" sz="2400" dirty="0"/>
          </a:p>
          <a:p>
            <a:r>
              <a:rPr lang="zh-TW" altLang="en-US" sz="2400" dirty="0">
                <a:solidFill>
                  <a:srgbClr val="FF0000"/>
                </a:solidFill>
              </a:rPr>
              <a:t>重點在此：</a:t>
            </a:r>
            <a:r>
              <a:rPr lang="zh-TW" altLang="en-US" sz="2400" dirty="0"/>
              <a:t>兩個都要設</a:t>
            </a:r>
            <a:r>
              <a:rPr lang="en-US" altLang="zh-TW" sz="2400" dirty="0"/>
              <a:t>12(</a:t>
            </a:r>
            <a:r>
              <a:rPr lang="zh-TW" altLang="en-US" sz="2400" dirty="0"/>
              <a:t>滿版寬</a:t>
            </a:r>
            <a:r>
              <a:rPr lang="en-US" altLang="zh-TW" sz="2400" dirty="0"/>
              <a:t>)</a:t>
            </a:r>
          </a:p>
          <a:p>
            <a:r>
              <a:rPr lang="zh-TW" altLang="en-US" sz="2400" dirty="0"/>
              <a:t>就可變成強迫換行的垂直排列效果</a:t>
            </a:r>
          </a:p>
        </p:txBody>
      </p:sp>
      <p:pic>
        <p:nvPicPr>
          <p:cNvPr id="15" name="圖片 14">
            <a:extLst>
              <a:ext uri="{FF2B5EF4-FFF2-40B4-BE49-F238E27FC236}">
                <a16:creationId xmlns:a16="http://schemas.microsoft.com/office/drawing/2014/main" id="{4D96943A-A055-74B3-BF08-3F9CE4291B0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72120" y="4680461"/>
            <a:ext cx="4363059" cy="2867425"/>
          </a:xfrm>
          <a:prstGeom prst="rect">
            <a:avLst/>
          </a:prstGeom>
        </p:spPr>
      </p:pic>
      <p:sp>
        <p:nvSpPr>
          <p:cNvPr id="16" name="矩形 15">
            <a:extLst>
              <a:ext uri="{FF2B5EF4-FFF2-40B4-BE49-F238E27FC236}">
                <a16:creationId xmlns:a16="http://schemas.microsoft.com/office/drawing/2014/main" id="{4549D50A-894C-7F1D-3E6C-046789A234A7}"/>
              </a:ext>
            </a:extLst>
          </p:cNvPr>
          <p:cNvSpPr/>
          <p:nvPr/>
        </p:nvSpPr>
        <p:spPr>
          <a:xfrm>
            <a:off x="2333625" y="3322555"/>
            <a:ext cx="2571750" cy="58795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A540DD55-A99C-D65E-BADE-83F4AA313445}"/>
              </a:ext>
            </a:extLst>
          </p:cNvPr>
          <p:cNvSpPr/>
          <p:nvPr/>
        </p:nvSpPr>
        <p:spPr>
          <a:xfrm>
            <a:off x="5995686" y="-49814"/>
            <a:ext cx="1647825" cy="50920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48F12F87-2CFC-A3CA-D82F-E19C1E072FCC}"/>
              </a:ext>
            </a:extLst>
          </p:cNvPr>
          <p:cNvSpPr/>
          <p:nvPr/>
        </p:nvSpPr>
        <p:spPr>
          <a:xfrm>
            <a:off x="6717816" y="599119"/>
            <a:ext cx="1647825" cy="50920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2BE9B56F-7F48-2436-56A6-A5608DBA8666}"/>
              </a:ext>
            </a:extLst>
          </p:cNvPr>
          <p:cNvSpPr/>
          <p:nvPr/>
        </p:nvSpPr>
        <p:spPr>
          <a:xfrm>
            <a:off x="8675634" y="5347419"/>
            <a:ext cx="1647825" cy="50920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377364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E77EE36B-810C-8234-E5DF-E8CC0F3016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357" y="2289099"/>
            <a:ext cx="4734586" cy="1086002"/>
          </a:xfrm>
          <a:prstGeom prst="rect">
            <a:avLst/>
          </a:prstGeo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5D6CC5D0-597B-9D26-C605-91FEC5CBE287}"/>
              </a:ext>
            </a:extLst>
          </p:cNvPr>
          <p:cNvSpPr/>
          <p:nvPr/>
        </p:nvSpPr>
        <p:spPr>
          <a:xfrm>
            <a:off x="1791958" y="2165350"/>
            <a:ext cx="1519568" cy="41395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0B27D642-8C99-047E-1C58-7FFAEEA77E08}"/>
              </a:ext>
            </a:extLst>
          </p:cNvPr>
          <p:cNvSpPr txBox="1"/>
          <p:nvPr/>
        </p:nvSpPr>
        <p:spPr>
          <a:xfrm>
            <a:off x="5400675" y="504825"/>
            <a:ext cx="679132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3200" dirty="0"/>
              <a:t>這選項就可自由調整寬度來檢視不同斷點的效果</a:t>
            </a:r>
            <a:r>
              <a:rPr lang="en-US" altLang="zh-TW" sz="3200" dirty="0"/>
              <a:t>md/lg</a:t>
            </a:r>
            <a:r>
              <a:rPr lang="zh-TW" altLang="en-US" sz="3200" dirty="0"/>
              <a:t>中型</a:t>
            </a:r>
            <a:r>
              <a:rPr lang="en-US" altLang="zh-TW" sz="3200" dirty="0"/>
              <a:t>/</a:t>
            </a:r>
            <a:r>
              <a:rPr lang="zh-TW" altLang="en-US" sz="3200" dirty="0"/>
              <a:t>大型裝置設定，不設就是小型大型以上就不用設，因可套用</a:t>
            </a:r>
            <a:r>
              <a:rPr lang="en-US" altLang="zh-TW" sz="3200" dirty="0"/>
              <a:t>lg</a:t>
            </a:r>
            <a:r>
              <a:rPr lang="zh-TW" altLang="en-US" sz="3200" dirty="0"/>
              <a:t>的設定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20948F27-B0C6-493C-E376-ECD9EA0578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32" y="4095750"/>
            <a:ext cx="8659433" cy="981212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3FC49E13-5D0E-530F-BBC1-FC332D8028EF}"/>
              </a:ext>
            </a:extLst>
          </p:cNvPr>
          <p:cNvSpPr txBox="1">
            <a:spLocks/>
          </p:cNvSpPr>
          <p:nvPr/>
        </p:nvSpPr>
        <p:spPr>
          <a:xfrm>
            <a:off x="152400" y="365125"/>
            <a:ext cx="61595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dirty="0"/>
              <a:t>斷點結構</a:t>
            </a:r>
            <a:r>
              <a:rPr lang="en-US" altLang="zh-TW" dirty="0"/>
              <a:t>test3.html</a:t>
            </a:r>
            <a:endParaRPr lang="zh-TW" altLang="en-US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27493041-3D15-7F7D-9474-913A932E6381}"/>
              </a:ext>
            </a:extLst>
          </p:cNvPr>
          <p:cNvSpPr txBox="1"/>
          <p:nvPr/>
        </p:nvSpPr>
        <p:spPr>
          <a:xfrm>
            <a:off x="815975" y="5292725"/>
            <a:ext cx="911018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400" dirty="0"/>
              <a:t>注意：</a:t>
            </a:r>
            <a:r>
              <a:rPr lang="zh-TW" altLang="en-US" sz="2400" dirty="0">
                <a:solidFill>
                  <a:srgbClr val="FF0000"/>
                </a:solidFill>
              </a:rPr>
              <a:t>要加</a:t>
            </a:r>
            <a:r>
              <a:rPr lang="en-US" altLang="zh-TW" sz="2400" dirty="0">
                <a:solidFill>
                  <a:srgbClr val="FF0000"/>
                </a:solidFill>
              </a:rPr>
              <a:t>123</a:t>
            </a:r>
            <a:r>
              <a:rPr lang="zh-TW" altLang="en-US" sz="2400" dirty="0">
                <a:solidFill>
                  <a:srgbClr val="FF0000"/>
                </a:solidFill>
              </a:rPr>
              <a:t>的文字才會有高度出來，也才看得到顏色</a:t>
            </a:r>
            <a:r>
              <a:rPr lang="zh-TW" altLang="en-US" sz="2400" dirty="0"/>
              <a:t>，</a:t>
            </a:r>
            <a:endParaRPr lang="en-US" altLang="zh-TW" sz="2400" dirty="0"/>
          </a:p>
          <a:p>
            <a:r>
              <a:rPr lang="zh-TW" altLang="en-US" sz="2400" dirty="0"/>
              <a:t>另補充：顏色很好用，當還沒有合適的圖片之前，可用此方式代替</a:t>
            </a:r>
            <a:endParaRPr lang="en-US" altLang="zh-TW" sz="2400" dirty="0"/>
          </a:p>
          <a:p>
            <a:r>
              <a:rPr lang="zh-TW" altLang="en-US" sz="2400" dirty="0"/>
              <a:t>建議順序：先規劃好網格設定及效果，</a:t>
            </a:r>
            <a:r>
              <a:rPr lang="en-US" altLang="zh-TW" sz="2400" dirty="0"/>
              <a:t>ok</a:t>
            </a:r>
            <a:r>
              <a:rPr lang="zh-TW" altLang="en-US" sz="2400" dirty="0"/>
              <a:t>後再來加內容就很快</a:t>
            </a:r>
            <a:endParaRPr lang="en-US" altLang="zh-TW" sz="2400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D3AF849-7585-8E18-FE5B-39F9769ADA1A}"/>
              </a:ext>
            </a:extLst>
          </p:cNvPr>
          <p:cNvSpPr/>
          <p:nvPr/>
        </p:nvSpPr>
        <p:spPr>
          <a:xfrm>
            <a:off x="3759200" y="3993970"/>
            <a:ext cx="381000" cy="120032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91EAE06-BAEB-2174-F37A-F160A02301FD}"/>
              </a:ext>
            </a:extLst>
          </p:cNvPr>
          <p:cNvSpPr/>
          <p:nvPr/>
        </p:nvSpPr>
        <p:spPr>
          <a:xfrm>
            <a:off x="5003800" y="4032070"/>
            <a:ext cx="381000" cy="120032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2153307F-2527-D731-67BC-D0DCE640A78C}"/>
              </a:ext>
            </a:extLst>
          </p:cNvPr>
          <p:cNvSpPr txBox="1"/>
          <p:nvPr/>
        </p:nvSpPr>
        <p:spPr>
          <a:xfrm>
            <a:off x="622300" y="3492500"/>
            <a:ext cx="470513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3200" dirty="0"/>
              <a:t>垂直紅框數字加起要是</a:t>
            </a:r>
            <a:r>
              <a:rPr lang="en-US" altLang="zh-TW" sz="3200" dirty="0"/>
              <a:t>12</a:t>
            </a:r>
            <a:endParaRPr lang="zh-TW" altLang="en-US" sz="3200" dirty="0"/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3F1C7224-9C3E-6BED-B504-40144806E1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2691403"/>
            <a:ext cx="3181794" cy="1238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07228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981200" y="1138884"/>
            <a:ext cx="7859216" cy="4651920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zh-TW" altLang="en-US" dirty="0"/>
              <a:t>我們可以使用 </a:t>
            </a:r>
            <a:r>
              <a:rPr lang="en-US" altLang="zh-TW" dirty="0"/>
              <a:t>.align-items-* </a:t>
            </a:r>
            <a:r>
              <a:rPr lang="zh-TW" altLang="en-US" dirty="0"/>
              <a:t>類別設定列的垂直對齊方式，下面是一個例子。</a:t>
            </a:r>
            <a:endParaRPr lang="en-US" altLang="zh-TW" dirty="0"/>
          </a:p>
          <a:p>
            <a:pPr marL="0" indent="0" algn="just">
              <a:buNone/>
            </a:pPr>
            <a:endParaRPr lang="zh-TW" altLang="en-US" dirty="0"/>
          </a:p>
        </p:txBody>
      </p:sp>
      <p:sp>
        <p:nvSpPr>
          <p:cNvPr id="4" name="內容版面配置區 2">
            <a:extLst>
              <a:ext uri="{FF2B5EF4-FFF2-40B4-BE49-F238E27FC236}">
                <a16:creationId xmlns:a16="http://schemas.microsoft.com/office/drawing/2014/main" id="{1D0E8889-394E-45EB-AD63-27FE775FB222}"/>
              </a:ext>
            </a:extLst>
          </p:cNvPr>
          <p:cNvSpPr txBox="1">
            <a:spLocks/>
          </p:cNvSpPr>
          <p:nvPr/>
        </p:nvSpPr>
        <p:spPr>
          <a:xfrm>
            <a:off x="1981200" y="606228"/>
            <a:ext cx="7283152" cy="532656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4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0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90000"/>
              <a:buFont typeface="Arial" pitchFamily="34" charset="0"/>
              <a:buChar char="•"/>
              <a:defRPr sz="18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4pPr>
            <a:lvl5pPr marL="1188720" indent="-1371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400" kern="1200" baseline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5pPr>
            <a:lvl6pPr marL="13716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6pPr>
            <a:lvl7pPr marL="15544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7pPr>
            <a:lvl8pPr marL="173736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8pPr>
            <a:lvl9pPr marL="19202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7A7A7A"/>
              </a:buClr>
              <a:buNone/>
            </a:pPr>
            <a:r>
              <a:rPr lang="en-US" altLang="zh-TW" dirty="0">
                <a:solidFill>
                  <a:srgbClr val="DC5924"/>
                </a:solidFill>
                <a:latin typeface="Constantia"/>
                <a:ea typeface="標楷體" panose="03000509000000000000" pitchFamily="65" charset="-120"/>
              </a:rPr>
              <a:t>6-5-4</a:t>
            </a:r>
            <a:r>
              <a:rPr lang="zh-TW" altLang="en-US" dirty="0">
                <a:solidFill>
                  <a:srgbClr val="DC5924"/>
                </a:solidFill>
                <a:latin typeface="Constantia"/>
                <a:ea typeface="標楷體" panose="03000509000000000000" pitchFamily="65" charset="-120"/>
              </a:rPr>
              <a:t>　</a:t>
            </a:r>
            <a:r>
              <a:rPr lang="en-US" altLang="zh-TW" dirty="0">
                <a:solidFill>
                  <a:srgbClr val="DC5924"/>
                </a:solidFill>
                <a:latin typeface="Constantia"/>
                <a:ea typeface="標楷體" panose="03000509000000000000" pitchFamily="65" charset="-120"/>
              </a:rPr>
              <a:t>row</a:t>
            </a:r>
            <a:r>
              <a:rPr lang="zh-TW" altLang="en-US" dirty="0">
                <a:solidFill>
                  <a:srgbClr val="DC5924"/>
                </a:solidFill>
                <a:latin typeface="Constantia"/>
                <a:ea typeface="標楷體" panose="03000509000000000000" pitchFamily="65" charset="-120"/>
              </a:rPr>
              <a:t>的垂直對齊方式</a:t>
            </a:r>
            <a:endParaRPr lang="en-US" altLang="zh-TW" dirty="0">
              <a:solidFill>
                <a:srgbClr val="DC5924"/>
              </a:solidFill>
              <a:latin typeface="Constantia"/>
              <a:ea typeface="標楷體" panose="03000509000000000000" pitchFamily="65" charset="-120"/>
            </a:endParaRPr>
          </a:p>
        </p:txBody>
      </p:sp>
      <p:sp>
        <p:nvSpPr>
          <p:cNvPr id="13" name="內容版面配置區 2">
            <a:extLst>
              <a:ext uri="{FF2B5EF4-FFF2-40B4-BE49-F238E27FC236}">
                <a16:creationId xmlns:a16="http://schemas.microsoft.com/office/drawing/2014/main" id="{E152F854-344F-4960-BA94-BC426E9F991D}"/>
              </a:ext>
            </a:extLst>
          </p:cNvPr>
          <p:cNvSpPr txBox="1">
            <a:spLocks/>
          </p:cNvSpPr>
          <p:nvPr/>
        </p:nvSpPr>
        <p:spPr>
          <a:xfrm>
            <a:off x="2135224" y="2061366"/>
            <a:ext cx="7561176" cy="309582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&lt;div class="container"&gt;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&lt;div class="row align-items-start"&gt;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&lt;div class="col"&gt;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區塊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1&lt;/div&gt;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&lt;div class="col"&gt;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區塊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2&lt;/div&gt;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&lt;div class="row align-items-center"&gt;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&lt;div class="col"&gt;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區塊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3&lt;/div&gt;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&lt;div class="col"&gt;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區塊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4&lt;/div&gt;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&lt;div class="row align-items-end"&gt;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&lt;div class="col"&gt;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區塊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5&lt;/div&gt;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&lt;div class="col"&gt;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區塊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6&lt;/div&gt;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&lt;/div&gt;</a:t>
            </a:r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4A28DCBE-70B4-479A-9D86-CCE9AE2F04C3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5231904" y="3212976"/>
            <a:ext cx="4392488" cy="1786756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82321416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981200" y="1233668"/>
            <a:ext cx="8075240" cy="1547260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zh-TW" altLang="en-US" dirty="0"/>
              <a:t>我們可以使用 </a:t>
            </a:r>
            <a:r>
              <a:rPr lang="en-US" altLang="zh-TW" dirty="0"/>
              <a:t>.justify-content-* </a:t>
            </a:r>
            <a:r>
              <a:rPr lang="zh-TW" altLang="en-US" dirty="0"/>
              <a:t>類別設定欄的水平對齊方式，下面是一個例子。</a:t>
            </a:r>
            <a:endParaRPr lang="en-US" altLang="zh-TW" dirty="0"/>
          </a:p>
        </p:txBody>
      </p:sp>
      <p:sp>
        <p:nvSpPr>
          <p:cNvPr id="4" name="內容版面配置區 2">
            <a:extLst>
              <a:ext uri="{FF2B5EF4-FFF2-40B4-BE49-F238E27FC236}">
                <a16:creationId xmlns:a16="http://schemas.microsoft.com/office/drawing/2014/main" id="{1D0E8889-394E-45EB-AD63-27FE775FB222}"/>
              </a:ext>
            </a:extLst>
          </p:cNvPr>
          <p:cNvSpPr txBox="1">
            <a:spLocks/>
          </p:cNvSpPr>
          <p:nvPr/>
        </p:nvSpPr>
        <p:spPr>
          <a:xfrm>
            <a:off x="1981200" y="701012"/>
            <a:ext cx="4834880" cy="532656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4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0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90000"/>
              <a:buFont typeface="Arial" pitchFamily="34" charset="0"/>
              <a:buChar char="•"/>
              <a:defRPr sz="18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4pPr>
            <a:lvl5pPr marL="1188720" indent="-1371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400" kern="1200" baseline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5pPr>
            <a:lvl6pPr marL="13716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6pPr>
            <a:lvl7pPr marL="15544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7pPr>
            <a:lvl8pPr marL="173736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8pPr>
            <a:lvl9pPr marL="19202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7A7A7A"/>
              </a:buClr>
              <a:buNone/>
            </a:pPr>
            <a:r>
              <a:rPr lang="en-US" altLang="zh-TW" dirty="0">
                <a:solidFill>
                  <a:srgbClr val="DC5924"/>
                </a:solidFill>
                <a:latin typeface="Constantia"/>
                <a:ea typeface="標楷體" panose="03000509000000000000" pitchFamily="65" charset="-120"/>
              </a:rPr>
              <a:t>6-5-4</a:t>
            </a:r>
            <a:r>
              <a:rPr lang="zh-TW" altLang="en-US" dirty="0">
                <a:solidFill>
                  <a:srgbClr val="DC5924"/>
                </a:solidFill>
                <a:latin typeface="Constantia"/>
                <a:ea typeface="標楷體" panose="03000509000000000000" pitchFamily="65" charset="-120"/>
              </a:rPr>
              <a:t>　</a:t>
            </a:r>
            <a:r>
              <a:rPr lang="en-US" altLang="zh-TW" dirty="0">
                <a:solidFill>
                  <a:srgbClr val="DC5924"/>
                </a:solidFill>
                <a:latin typeface="Constantia"/>
                <a:ea typeface="標楷體" panose="03000509000000000000" pitchFamily="65" charset="-120"/>
              </a:rPr>
              <a:t>column</a:t>
            </a:r>
            <a:r>
              <a:rPr lang="zh-TW" altLang="en-US" dirty="0">
                <a:solidFill>
                  <a:srgbClr val="DC5924"/>
                </a:solidFill>
                <a:latin typeface="Constantia"/>
                <a:ea typeface="標楷體" panose="03000509000000000000" pitchFamily="65" charset="-120"/>
              </a:rPr>
              <a:t>的水平對齊方式</a:t>
            </a:r>
            <a:endParaRPr lang="en-US" altLang="zh-TW" dirty="0">
              <a:solidFill>
                <a:srgbClr val="DC5924"/>
              </a:solidFill>
              <a:latin typeface="Constantia"/>
              <a:ea typeface="標楷體" panose="03000509000000000000" pitchFamily="65" charset="-120"/>
            </a:endParaRPr>
          </a:p>
        </p:txBody>
      </p:sp>
      <p:sp>
        <p:nvSpPr>
          <p:cNvPr id="15" name="內容版面配置區 2">
            <a:extLst>
              <a:ext uri="{FF2B5EF4-FFF2-40B4-BE49-F238E27FC236}">
                <a16:creationId xmlns:a16="http://schemas.microsoft.com/office/drawing/2014/main" id="{35A4076F-EE29-4C0A-B9BA-8B8D4499A876}"/>
              </a:ext>
            </a:extLst>
          </p:cNvPr>
          <p:cNvSpPr txBox="1">
            <a:spLocks/>
          </p:cNvSpPr>
          <p:nvPr/>
        </p:nvSpPr>
        <p:spPr>
          <a:xfrm>
            <a:off x="2098948" y="2204864"/>
            <a:ext cx="7674024" cy="424847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 fontScale="92500" lnSpcReduction="20000"/>
          </a:bodyPr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&lt;div class="container"&gt;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&lt;div class="row justify-content-start"&gt;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&lt;div class="col-4"&gt;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區塊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1&lt;/div&gt;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&lt;div class="col-4"&gt;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區塊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2&lt;/div&gt;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&lt;div class="row justify-content-center"&gt;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&lt;div class="col-4"&gt;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區塊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3&lt;/div&gt;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&lt;div class="col-4"&gt;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區塊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4&lt;/div&gt;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&lt;div class="row justify-content-end"&gt;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&lt;div class="col-4"&gt;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區塊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5&lt;/div&gt;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&lt;div class="col-4"&gt;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區塊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6&lt;/div&gt;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&lt;div class="row justify-content-around"&gt;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&lt;div class="col-4"&gt;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區塊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7&lt;/div&gt;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&lt;div class="col-4"&gt;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區塊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8&lt;/div&gt;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&lt;div class="row justify-content-between"&gt;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&lt;div class="col-4"&gt;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區塊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9&lt;/div&gt;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&lt;div class="col-4"&gt;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區塊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10&lt;/div&gt;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&lt;div class="row justify-content-evenly"&gt;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&lt;div class="col-4"&gt;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區塊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11&lt;/div&gt;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&lt;div class="col-4"&gt;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區塊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12&lt;/div&gt;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&lt;/div&gt;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F5343B26-08E1-4A87-9B4F-426EFD05DDF5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5231904" y="5229201"/>
            <a:ext cx="4442792" cy="1135757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2667276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919536" y="1412776"/>
            <a:ext cx="7920880" cy="1656184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zh-TW" altLang="en-US" dirty="0"/>
              <a:t>我們可以使用 </a:t>
            </a:r>
            <a:r>
              <a:rPr lang="en-US" altLang="zh-TW" dirty="0"/>
              <a:t>.offset-* </a:t>
            </a:r>
            <a:r>
              <a:rPr lang="zh-TW" altLang="en-US" dirty="0"/>
              <a:t>類別來設定</a:t>
            </a:r>
            <a:r>
              <a:rPr lang="en-US" altLang="zh-TW" dirty="0"/>
              <a:t>column</a:t>
            </a:r>
            <a:r>
              <a:rPr lang="zh-TW" altLang="en-US" dirty="0"/>
              <a:t>的位移，下面是一個例子。</a:t>
            </a:r>
          </a:p>
        </p:txBody>
      </p:sp>
      <p:sp>
        <p:nvSpPr>
          <p:cNvPr id="4" name="內容版面配置區 2">
            <a:extLst>
              <a:ext uri="{FF2B5EF4-FFF2-40B4-BE49-F238E27FC236}">
                <a16:creationId xmlns:a16="http://schemas.microsoft.com/office/drawing/2014/main" id="{1D0E8889-394E-45EB-AD63-27FE775FB222}"/>
              </a:ext>
            </a:extLst>
          </p:cNvPr>
          <p:cNvSpPr txBox="1">
            <a:spLocks/>
          </p:cNvSpPr>
          <p:nvPr/>
        </p:nvSpPr>
        <p:spPr>
          <a:xfrm>
            <a:off x="1919536" y="764704"/>
            <a:ext cx="4834880" cy="532656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4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0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90000"/>
              <a:buFont typeface="Arial" pitchFamily="34" charset="0"/>
              <a:buChar char="•"/>
              <a:defRPr sz="18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4pPr>
            <a:lvl5pPr marL="1188720" indent="-1371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400" kern="1200" baseline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5pPr>
            <a:lvl6pPr marL="13716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6pPr>
            <a:lvl7pPr marL="15544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7pPr>
            <a:lvl8pPr marL="173736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8pPr>
            <a:lvl9pPr marL="19202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7A7A7A"/>
              </a:buClr>
              <a:buNone/>
            </a:pPr>
            <a:r>
              <a:rPr lang="en-US" altLang="zh-TW" dirty="0">
                <a:solidFill>
                  <a:srgbClr val="DC5924"/>
                </a:solidFill>
                <a:latin typeface="Constantia"/>
                <a:ea typeface="標楷體" panose="03000509000000000000" pitchFamily="65" charset="-120"/>
              </a:rPr>
              <a:t>6-5-5</a:t>
            </a:r>
            <a:r>
              <a:rPr lang="zh-TW" altLang="en-US" dirty="0">
                <a:solidFill>
                  <a:srgbClr val="DC5924"/>
                </a:solidFill>
                <a:latin typeface="Constantia"/>
                <a:ea typeface="標楷體" panose="03000509000000000000" pitchFamily="65" charset="-120"/>
              </a:rPr>
              <a:t>　</a:t>
            </a:r>
            <a:r>
              <a:rPr lang="en-US" altLang="zh-TW" dirty="0">
                <a:solidFill>
                  <a:srgbClr val="DC5924"/>
                </a:solidFill>
                <a:latin typeface="Constantia"/>
                <a:ea typeface="標楷體" panose="03000509000000000000" pitchFamily="65" charset="-120"/>
              </a:rPr>
              <a:t>column</a:t>
            </a:r>
            <a:r>
              <a:rPr lang="zh-TW" altLang="en-US" dirty="0">
                <a:solidFill>
                  <a:srgbClr val="DC5924"/>
                </a:solidFill>
                <a:latin typeface="Constantia"/>
                <a:ea typeface="標楷體" panose="03000509000000000000" pitchFamily="65" charset="-120"/>
              </a:rPr>
              <a:t>的位移</a:t>
            </a:r>
          </a:p>
        </p:txBody>
      </p:sp>
      <p:sp>
        <p:nvSpPr>
          <p:cNvPr id="7" name="內容版面配置區 2">
            <a:extLst>
              <a:ext uri="{FF2B5EF4-FFF2-40B4-BE49-F238E27FC236}">
                <a16:creationId xmlns:a16="http://schemas.microsoft.com/office/drawing/2014/main" id="{469B08A0-6F6A-43CD-9496-5801978A5A0B}"/>
              </a:ext>
            </a:extLst>
          </p:cNvPr>
          <p:cNvSpPr txBox="1">
            <a:spLocks/>
          </p:cNvSpPr>
          <p:nvPr/>
        </p:nvSpPr>
        <p:spPr>
          <a:xfrm>
            <a:off x="2063552" y="2348880"/>
            <a:ext cx="7632848" cy="295232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&lt;div class="container"&gt;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&lt;div class="row"&gt;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 &lt;div class="col-md-4"&gt;.col-md-4&lt;/div&gt;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 &lt;div class="col-md-4 offset-md-4"&gt;.col-md-4 .offset-md-4&lt;/div&gt;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&lt;div class="row"&gt;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 &lt;div class="col-md-3 offset-md-3"&gt;.col-md-3 .offset-md-3&lt;/div&gt;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 &lt;div class="col-md-3 offset-md-3"&gt;.col-md-3 .offset-md-3&lt;/div&gt;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&lt;div class="row"&gt;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&lt;div class="col-md-6 offset-md-3"&gt;.col-md-6 .offset-md-3&lt;/div&gt;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&lt;/div&gt;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E03D9FAF-BE63-4F57-897A-C6A55D58A76A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2855640" y="5445224"/>
            <a:ext cx="6336704" cy="1142874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1762846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919536" y="1412776"/>
            <a:ext cx="7920880" cy="1656184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zh-TW" altLang="en-US" dirty="0"/>
              <a:t>將</a:t>
            </a:r>
            <a:r>
              <a:rPr lang="en-US" altLang="zh-TW" dirty="0"/>
              <a:t>column</a:t>
            </a:r>
            <a:r>
              <a:rPr lang="zh-TW" altLang="en-US" dirty="0"/>
              <a:t>換到新行很簡單，只要在換到新行的地方加上一個有</a:t>
            </a:r>
            <a:r>
              <a:rPr lang="en-US" altLang="zh-TW" dirty="0"/>
              <a:t>width: 100% </a:t>
            </a:r>
            <a:r>
              <a:rPr lang="zh-TW" altLang="en-US" dirty="0"/>
              <a:t>屬性的元素即可，下面是一個例子。</a:t>
            </a:r>
          </a:p>
        </p:txBody>
      </p:sp>
      <p:sp>
        <p:nvSpPr>
          <p:cNvPr id="4" name="內容版面配置區 2">
            <a:extLst>
              <a:ext uri="{FF2B5EF4-FFF2-40B4-BE49-F238E27FC236}">
                <a16:creationId xmlns:a16="http://schemas.microsoft.com/office/drawing/2014/main" id="{1D0E8889-394E-45EB-AD63-27FE775FB222}"/>
              </a:ext>
            </a:extLst>
          </p:cNvPr>
          <p:cNvSpPr txBox="1">
            <a:spLocks/>
          </p:cNvSpPr>
          <p:nvPr/>
        </p:nvSpPr>
        <p:spPr>
          <a:xfrm>
            <a:off x="1919536" y="764704"/>
            <a:ext cx="4834880" cy="532656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4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0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90000"/>
              <a:buFont typeface="Arial" pitchFamily="34" charset="0"/>
              <a:buChar char="•"/>
              <a:defRPr sz="18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4pPr>
            <a:lvl5pPr marL="1188720" indent="-1371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400" kern="1200" baseline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5pPr>
            <a:lvl6pPr marL="13716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6pPr>
            <a:lvl7pPr marL="15544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7pPr>
            <a:lvl8pPr marL="173736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8pPr>
            <a:lvl9pPr marL="19202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7A7A7A"/>
              </a:buClr>
              <a:buNone/>
            </a:pPr>
            <a:r>
              <a:rPr lang="en-US" altLang="zh-TW" dirty="0">
                <a:solidFill>
                  <a:srgbClr val="DC5924"/>
                </a:solidFill>
                <a:latin typeface="Constantia"/>
                <a:ea typeface="標楷體" panose="03000509000000000000" pitchFamily="65" charset="-120"/>
              </a:rPr>
              <a:t>6-5-6</a:t>
            </a:r>
            <a:r>
              <a:rPr lang="zh-TW" altLang="en-US" dirty="0">
                <a:solidFill>
                  <a:srgbClr val="DC5924"/>
                </a:solidFill>
                <a:latin typeface="Constantia"/>
                <a:ea typeface="標楷體" panose="03000509000000000000" pitchFamily="65" charset="-120"/>
              </a:rPr>
              <a:t>　將</a:t>
            </a:r>
            <a:r>
              <a:rPr lang="en-US" altLang="zh-TW" dirty="0">
                <a:solidFill>
                  <a:srgbClr val="DC5924"/>
                </a:solidFill>
                <a:latin typeface="Constantia"/>
                <a:ea typeface="標楷體" panose="03000509000000000000" pitchFamily="65" charset="-120"/>
              </a:rPr>
              <a:t>column</a:t>
            </a:r>
            <a:r>
              <a:rPr lang="zh-TW" altLang="en-US" dirty="0">
                <a:solidFill>
                  <a:srgbClr val="DC5924"/>
                </a:solidFill>
                <a:latin typeface="Constantia"/>
                <a:ea typeface="標楷體" panose="03000509000000000000" pitchFamily="65" charset="-120"/>
              </a:rPr>
              <a:t>換到新行</a:t>
            </a:r>
          </a:p>
        </p:txBody>
      </p:sp>
      <p:sp>
        <p:nvSpPr>
          <p:cNvPr id="7" name="內容版面配置區 2">
            <a:extLst>
              <a:ext uri="{FF2B5EF4-FFF2-40B4-BE49-F238E27FC236}">
                <a16:creationId xmlns:a16="http://schemas.microsoft.com/office/drawing/2014/main" id="{469B08A0-6F6A-43CD-9496-5801978A5A0B}"/>
              </a:ext>
            </a:extLst>
          </p:cNvPr>
          <p:cNvSpPr txBox="1">
            <a:spLocks/>
          </p:cNvSpPr>
          <p:nvPr/>
        </p:nvSpPr>
        <p:spPr>
          <a:xfrm>
            <a:off x="2063552" y="2348880"/>
            <a:ext cx="7632848" cy="230425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&lt;div class="container"&gt;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&lt;div class="row"&gt;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&lt;div class="col-6 col-sm-3"&gt;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區塊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1&lt;/div&gt;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&lt;div class="col-6 col-sm-3"&gt;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區塊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2&lt;/div&gt;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&lt;!--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將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column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換到新行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--&gt;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</a:t>
            </a:r>
            <a:r>
              <a:rPr lang="en-US" altLang="zh-TW" sz="1400" dirty="0">
                <a:solidFill>
                  <a:srgbClr val="FF0000"/>
                </a:solidFill>
                <a:latin typeface="Constantia"/>
                <a:ea typeface="標楷體" panose="03000509000000000000" pitchFamily="65" charset="-120"/>
              </a:rPr>
              <a:t>&lt;div class="w-100"&gt;&lt;/div&gt;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&lt;div class="col-6 col-sm-3"&gt;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區塊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3&lt;/div&gt;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&lt;div class="col-6 col-sm-3"&gt;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區塊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4&lt;/div&gt;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&lt;/div&gt;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558F78D9-4277-4777-A183-50A8482B0B2E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3071664" y="4911824"/>
            <a:ext cx="6336704" cy="1469504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0550517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919536" y="1412776"/>
            <a:ext cx="7920880" cy="1656184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zh-TW" altLang="en-US" dirty="0"/>
              <a:t>我們可以使用 </a:t>
            </a:r>
            <a:r>
              <a:rPr lang="en-US" altLang="zh-TW" dirty="0"/>
              <a:t>.order-* </a:t>
            </a:r>
            <a:r>
              <a:rPr lang="zh-TW" altLang="en-US" dirty="0"/>
              <a:t>等類別來控制</a:t>
            </a:r>
            <a:r>
              <a:rPr lang="en-US" altLang="zh-TW" dirty="0"/>
              <a:t>column</a:t>
            </a:r>
            <a:r>
              <a:rPr lang="zh-TW" altLang="en-US" dirty="0"/>
              <a:t>的順序，下面是一個例子。</a:t>
            </a:r>
          </a:p>
        </p:txBody>
      </p:sp>
      <p:sp>
        <p:nvSpPr>
          <p:cNvPr id="4" name="內容版面配置區 2">
            <a:extLst>
              <a:ext uri="{FF2B5EF4-FFF2-40B4-BE49-F238E27FC236}">
                <a16:creationId xmlns:a16="http://schemas.microsoft.com/office/drawing/2014/main" id="{1D0E8889-394E-45EB-AD63-27FE775FB222}"/>
              </a:ext>
            </a:extLst>
          </p:cNvPr>
          <p:cNvSpPr txBox="1">
            <a:spLocks/>
          </p:cNvSpPr>
          <p:nvPr/>
        </p:nvSpPr>
        <p:spPr>
          <a:xfrm>
            <a:off x="1919536" y="764704"/>
            <a:ext cx="4834880" cy="532656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4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0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90000"/>
              <a:buFont typeface="Arial" pitchFamily="34" charset="0"/>
              <a:buChar char="•"/>
              <a:defRPr sz="18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4pPr>
            <a:lvl5pPr marL="1188720" indent="-1371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400" kern="1200" baseline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5pPr>
            <a:lvl6pPr marL="13716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6pPr>
            <a:lvl7pPr marL="15544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7pPr>
            <a:lvl8pPr marL="173736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8pPr>
            <a:lvl9pPr marL="19202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7A7A7A"/>
              </a:buClr>
              <a:buNone/>
            </a:pPr>
            <a:r>
              <a:rPr lang="en-US" altLang="zh-TW" dirty="0">
                <a:solidFill>
                  <a:srgbClr val="DC5924"/>
                </a:solidFill>
                <a:latin typeface="Constantia"/>
                <a:ea typeface="標楷體" panose="03000509000000000000" pitchFamily="65" charset="-120"/>
              </a:rPr>
              <a:t>6-5-7</a:t>
            </a:r>
            <a:r>
              <a:rPr lang="zh-TW" altLang="en-US" dirty="0">
                <a:solidFill>
                  <a:srgbClr val="DC5924"/>
                </a:solidFill>
                <a:latin typeface="Constantia"/>
                <a:ea typeface="標楷體" panose="03000509000000000000" pitchFamily="65" charset="-120"/>
              </a:rPr>
              <a:t>　</a:t>
            </a:r>
            <a:r>
              <a:rPr lang="en-US" altLang="zh-TW" dirty="0">
                <a:solidFill>
                  <a:srgbClr val="DC5924"/>
                </a:solidFill>
                <a:latin typeface="Constantia"/>
                <a:ea typeface="標楷體" panose="03000509000000000000" pitchFamily="65" charset="-120"/>
              </a:rPr>
              <a:t>column</a:t>
            </a:r>
            <a:r>
              <a:rPr lang="zh-TW" altLang="en-US" dirty="0">
                <a:solidFill>
                  <a:srgbClr val="DC5924"/>
                </a:solidFill>
                <a:latin typeface="Constantia"/>
                <a:ea typeface="標楷體" panose="03000509000000000000" pitchFamily="65" charset="-120"/>
              </a:rPr>
              <a:t>的順序</a:t>
            </a:r>
          </a:p>
        </p:txBody>
      </p:sp>
      <p:sp>
        <p:nvSpPr>
          <p:cNvPr id="7" name="內容版面配置區 2">
            <a:extLst>
              <a:ext uri="{FF2B5EF4-FFF2-40B4-BE49-F238E27FC236}">
                <a16:creationId xmlns:a16="http://schemas.microsoft.com/office/drawing/2014/main" id="{469B08A0-6F6A-43CD-9496-5801978A5A0B}"/>
              </a:ext>
            </a:extLst>
          </p:cNvPr>
          <p:cNvSpPr txBox="1">
            <a:spLocks/>
          </p:cNvSpPr>
          <p:nvPr/>
        </p:nvSpPr>
        <p:spPr>
          <a:xfrm>
            <a:off x="2063552" y="2348880"/>
            <a:ext cx="7632848" cy="165618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&lt;div class="container"&gt;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&lt;div class="row"&gt;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&lt;div class="col"&gt;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區塊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1(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沒有指定順序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)&lt;/div&gt;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&lt;div class="col order-5"&gt;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區塊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2(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指定順序為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5)&lt;/div&gt;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&lt;div class="col order-1"&gt;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區塊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3(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指定順序為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1)&lt;/div&gt;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&lt;/div&gt;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38D5583A-E7C7-4998-9F0A-C77BF8E0DD4D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3215680" y="4293096"/>
            <a:ext cx="5832648" cy="1584176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9116181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DEDB05-9AD6-A309-FE22-551A658162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BS</a:t>
            </a:r>
            <a:r>
              <a:rPr lang="zh-TW" altLang="en-US" dirty="0"/>
              <a:t>文字效果</a:t>
            </a:r>
            <a:r>
              <a:rPr lang="en-US" altLang="zh-TW" dirty="0"/>
              <a:t>-</a:t>
            </a:r>
            <a:r>
              <a:rPr lang="zh-TW" altLang="en-US" dirty="0"/>
              <a:t>內容樣式 </a:t>
            </a:r>
            <a:r>
              <a:rPr lang="en-US" altLang="zh-TW" dirty="0"/>
              <a:t>8.mp4 test4.html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73143333"/>
      </p:ext>
    </p:extLst>
  </p:cSld>
  <p:clrMapOvr>
    <a:masterClrMapping/>
  </p:clrMapOvr>
</p:sld>
</file>

<file path=ppt/theme/_rels/them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F1477">
  <a:themeElements>
    <a:clrScheme name="基本">
      <a:dk1>
        <a:srgbClr val="000000"/>
      </a:dk1>
      <a:lt1>
        <a:srgbClr val="FFFFFF"/>
      </a:lt1>
      <a:dk2>
        <a:srgbClr val="D1282E"/>
      </a:dk2>
      <a:lt2>
        <a:srgbClr val="C8C8B1"/>
      </a:lt2>
      <a:accent1>
        <a:srgbClr val="7A7A7A"/>
      </a:accent1>
      <a:accent2>
        <a:srgbClr val="F5C201"/>
      </a:accent2>
      <a:accent3>
        <a:srgbClr val="526DB0"/>
      </a:accent3>
      <a:accent4>
        <a:srgbClr val="989AAC"/>
      </a:accent4>
      <a:accent5>
        <a:srgbClr val="DC5924"/>
      </a:accent5>
      <a:accent6>
        <a:srgbClr val="B4B392"/>
      </a:accent6>
      <a:hlink>
        <a:srgbClr val="CC9900"/>
      </a:hlink>
      <a:folHlink>
        <a:srgbClr val="969696"/>
      </a:folHlink>
    </a:clrScheme>
    <a:fontScheme name="宣紙">
      <a:majorFont>
        <a:latin typeface="Constantia"/>
        <a:ea typeface=""/>
        <a:cs typeface=""/>
        <a:font script="Jpan" typeface="HG明朝E"/>
        <a:font script="Hang" typeface="궁서"/>
        <a:font script="Hans" typeface="华文新魏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onstantia"/>
        <a:ea typeface=""/>
        <a:cs typeface=""/>
        <a:font script="Jpan" typeface="HG明朝E"/>
        <a:font script="Hang" typeface="궁서"/>
        <a:font script="Hans" typeface="华文新魏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清晰度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hade val="86000"/>
                <a:satMod val="140000"/>
              </a:schemeClr>
            </a:gs>
            <a:gs pos="45000">
              <a:schemeClr val="phClr">
                <a:tint val="48000"/>
                <a:satMod val="150000"/>
              </a:schemeClr>
            </a:gs>
            <a:gs pos="100000">
              <a:schemeClr val="phClr">
                <a:tint val="28000"/>
                <a:satMod val="16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70000"/>
                <a:satMod val="150000"/>
              </a:schemeClr>
            </a:gs>
            <a:gs pos="34000">
              <a:schemeClr val="phClr">
                <a:shade val="70000"/>
                <a:satMod val="140000"/>
              </a:schemeClr>
            </a:gs>
            <a:gs pos="70000">
              <a:schemeClr val="phClr">
                <a:tint val="100000"/>
                <a:shade val="90000"/>
                <a:satMod val="140000"/>
              </a:schemeClr>
            </a:gs>
            <a:gs pos="100000">
              <a:schemeClr val="phClr">
                <a:tint val="100000"/>
                <a:shade val="100000"/>
                <a:sat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26425" cap="flat" cmpd="sng" algn="ctr">
          <a:solidFill>
            <a:schemeClr val="phClr"/>
          </a:solidFill>
          <a:prstDash val="solid"/>
        </a:ln>
        <a:ln w="444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hade val="30000"/>
                <a:satMod val="13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5000"/>
                <a:satMod val="180000"/>
              </a:schemeClr>
            </a:gs>
            <a:gs pos="40000">
              <a:schemeClr val="phClr">
                <a:tint val="95000"/>
                <a:shade val="85000"/>
                <a:satMod val="150000"/>
              </a:schemeClr>
            </a:gs>
            <a:gs pos="100000">
              <a:schemeClr val="phClr">
                <a:shade val="45000"/>
                <a:satMod val="200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55000"/>
              </a:schemeClr>
              <a:schemeClr val="phClr">
                <a:tint val="97000"/>
                <a:satMod val="95000"/>
              </a:schemeClr>
            </a:duotone>
          </a:blip>
          <a:tile tx="0" ty="0" sx="70000" sy="7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1477" id="{8EDF6A5C-2665-47DE-847B-52B0E9AB61E4}" vid="{76908F37-AD7E-4B43-905C-6485C594D950}"/>
    </a:ext>
  </a:extLst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16800</TotalTime>
  <Words>1940</Words>
  <Application>Microsoft Office PowerPoint</Application>
  <PresentationFormat>寬螢幕</PresentationFormat>
  <Paragraphs>195</Paragraphs>
  <Slides>25</Slides>
  <Notes>3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2</vt:i4>
      </vt:variant>
      <vt:variant>
        <vt:lpstr>投影片標題</vt:lpstr>
      </vt:variant>
      <vt:variant>
        <vt:i4>25</vt:i4>
      </vt:variant>
    </vt:vector>
  </HeadingPairs>
  <TitlesOfParts>
    <vt:vector size="31" baseType="lpstr">
      <vt:lpstr>Arial</vt:lpstr>
      <vt:lpstr>Calibri</vt:lpstr>
      <vt:lpstr>Calibri Light</vt:lpstr>
      <vt:lpstr>Constantia</vt:lpstr>
      <vt:lpstr>Office 佈景主題</vt:lpstr>
      <vt:lpstr>F1477</vt:lpstr>
      <vt:lpstr>PowerPoint 簡報</vt:lpstr>
      <vt:lpstr>PowerPoint 簡報</vt:lpstr>
      <vt:lpstr>PowerPoint 簡報</vt:lpstr>
      <vt:lpstr>6-2   Bootstrap的版本</vt:lpstr>
      <vt:lpstr>PowerPoint 簡報</vt:lpstr>
      <vt:lpstr>PowerPoint 簡報</vt:lpstr>
      <vt:lpstr>PowerPoint 簡報</vt:lpstr>
      <vt:lpstr>PowerPoint 簡報</vt:lpstr>
      <vt:lpstr>Test1.html</vt:lpstr>
      <vt:lpstr>PowerPoint 簡報</vt:lpstr>
      <vt:lpstr>Test2.html  bs5範本製作 產生器</vt:lpstr>
      <vt:lpstr>PowerPoint 簡報</vt:lpstr>
      <vt:lpstr>PowerPoint 簡報</vt:lpstr>
      <vt:lpstr>PowerPoint 簡報</vt:lpstr>
      <vt:lpstr>   網格系統</vt:lpstr>
      <vt:lpstr>PowerPoint 簡報</vt:lpstr>
      <vt:lpstr>PowerPoint 簡報</vt:lpstr>
      <vt:lpstr>斷點設定考量test3.html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BS文字效果-內容樣式 8.mp4 test4.html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炳志 林</dc:creator>
  <cp:lastModifiedBy>炳志 林</cp:lastModifiedBy>
  <cp:revision>24</cp:revision>
  <dcterms:created xsi:type="dcterms:W3CDTF">2025-10-21T14:18:20Z</dcterms:created>
  <dcterms:modified xsi:type="dcterms:W3CDTF">2026-08-18T03:24:13Z</dcterms:modified>
</cp:coreProperties>
</file>
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328" r:id="rId3"/>
    <p:sldId id="256" r:id="rId4"/>
    <p:sldId id="257" r:id="rId5"/>
    <p:sldId id="312" r:id="rId6"/>
    <p:sldId id="258" r:id="rId7"/>
    <p:sldId id="259" r:id="rId8"/>
    <p:sldId id="324" r:id="rId9"/>
    <p:sldId id="260" r:id="rId10"/>
    <p:sldId id="322" r:id="rId11"/>
    <p:sldId id="262" r:id="rId12"/>
    <p:sldId id="323" r:id="rId13"/>
    <p:sldId id="313" r:id="rId14"/>
    <p:sldId id="261" r:id="rId15"/>
    <p:sldId id="326" r:id="rId16"/>
    <p:sldId id="314" r:id="rId17"/>
    <p:sldId id="291" r:id="rId18"/>
    <p:sldId id="282" r:id="rId19"/>
    <p:sldId id="315" r:id="rId20"/>
    <p:sldId id="316" r:id="rId21"/>
    <p:sldId id="294" r:id="rId22"/>
    <p:sldId id="295" r:id="rId23"/>
    <p:sldId id="285" r:id="rId24"/>
    <p:sldId id="317" r:id="rId25"/>
    <p:sldId id="318" r:id="rId26"/>
    <p:sldId id="321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932" autoAdjust="0"/>
  </p:normalViewPr>
  <p:slideViewPr>
    <p:cSldViewPr snapToGrid="0">
      <p:cViewPr varScale="1">
        <p:scale>
          <a:sx n="115" d="100"/>
          <a:sy n="115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D2B54-8F89-4695-92B9-17EDEF6EA58F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1E048-84D3-468E-B508-63C87FF348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047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V3</a:t>
            </a:r>
            <a:r>
              <a:rPr lang="zh-TW" altLang="en-US" sz="1200" dirty="0"/>
              <a:t>、</a:t>
            </a:r>
            <a:r>
              <a:rPr lang="en-US" altLang="zh-TW" sz="1200" dirty="0"/>
              <a:t>v4</a:t>
            </a:r>
            <a:r>
              <a:rPr lang="zh-TW" altLang="en-US" sz="1200" dirty="0"/>
              <a:t>不是不能用，但會漸漸減少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 err="1"/>
              <a:t>bs</a:t>
            </a:r>
            <a:r>
              <a:rPr lang="zh-TW" altLang="en-US" sz="1200" dirty="0"/>
              <a:t>優點是高效率完成，但</a:t>
            </a:r>
            <a:r>
              <a:rPr lang="en-US" altLang="zh-TW" sz="1200" dirty="0"/>
              <a:t>BS</a:t>
            </a:r>
            <a:r>
              <a:rPr lang="zh-TW" altLang="en-US" sz="1200" dirty="0"/>
              <a:t>也是有極限，無法完全滿足須求，所以也是須要再搭配</a:t>
            </a:r>
            <a:r>
              <a:rPr lang="en-US" altLang="zh-TW" sz="1200" dirty="0" err="1"/>
              <a:t>css</a:t>
            </a:r>
            <a:r>
              <a:rPr lang="zh-TW" altLang="en-US" sz="1200" dirty="0"/>
              <a:t>、</a:t>
            </a:r>
            <a:r>
              <a:rPr lang="en-US" altLang="zh-TW" sz="1200" dirty="0" err="1"/>
              <a:t>js</a:t>
            </a:r>
            <a:r>
              <a:rPr lang="zh-TW" altLang="en-US" sz="1200" dirty="0"/>
              <a:t>來輔助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1E048-84D3-468E-B508-63C87FF3489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25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有紅色是</a:t>
            </a:r>
            <a:r>
              <a:rPr lang="en-US" altLang="zh-TW" dirty="0"/>
              <a:t>ok</a:t>
            </a:r>
            <a:r>
              <a:rPr lang="zh-TW" altLang="en-US" dirty="0"/>
              <a:t>的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1E048-84D3-468E-B508-63C87FF3489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8983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對照手寫</a:t>
            </a:r>
            <a:r>
              <a:rPr lang="en-US" altLang="zh-TW" dirty="0" err="1"/>
              <a:t>css</a:t>
            </a:r>
            <a:r>
              <a:rPr lang="zh-TW" altLang="en-US" dirty="0"/>
              <a:t>，像素是</a:t>
            </a:r>
            <a:r>
              <a:rPr lang="en-US" altLang="zh-TW" dirty="0"/>
              <a:t>bs</a:t>
            </a:r>
            <a:r>
              <a:rPr lang="zh-TW" altLang="en-US" dirty="0"/>
              <a:t>定義的，也可用</a:t>
            </a:r>
            <a:r>
              <a:rPr lang="en-US" altLang="zh-TW" dirty="0" err="1"/>
              <a:t>css</a:t>
            </a:r>
            <a:r>
              <a:rPr lang="zh-TW" altLang="en-US" dirty="0"/>
              <a:t>自設，</a:t>
            </a:r>
            <a:r>
              <a:rPr lang="en-US" altLang="zh-TW" dirty="0"/>
              <a:t>media query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1E048-84D3-468E-B508-63C87FF3489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22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FCFC8C-5F14-57BB-7368-3A463954D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6692EE-6B81-2D3E-F685-DE17ED034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E64190-A8A3-8688-0545-3503A456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D8ECF4-5BF1-5F8E-02E5-B5F70B58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0CB68-7A02-F750-18A6-F8D1871C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95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99AE4-7616-B99F-6403-520FA01C7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93C9F2-BE20-9320-B30C-4516966A8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2B5BE6-C502-2715-53BE-223663AB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7B6E2C-9EAF-9021-C6D8-937369D9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F9EEA3-83BA-B614-BD7B-2DD11D24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49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E8130B-CAD5-62B9-49BA-14DEF098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9E98DF-9506-87DA-4876-09CD0CECE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8E142B-5D9E-0FAF-50F3-81DF03EE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9BA85E-67D7-5ADC-2035-CFEC2A40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E07C6-DC11-FCB7-9B9D-6368E146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64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6ACDDD-7A6E-B381-FDAA-36547E56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552F32-F3A3-DEAD-ADE5-731394F86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A3305D1-54C9-991E-8753-028E31C10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18BD78-F473-BAE6-89C5-19F4A2308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9D9C37-D012-5317-C3F4-0831BA5B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F8D82F-597D-6788-5BC6-CB9C1042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99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D3F384-0A52-3653-68B0-7B7CF2A8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262DF5-BA09-270A-2205-BC08B6588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28270E-51B1-831A-7E4A-53E6A511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B8AEB4-A130-6981-A3CF-D8A8EE248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9361C4C-9B12-B78D-3959-B82E717AE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A332D8-45AF-FE5E-E034-8F619F99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4D0BB3F-7B63-FBF2-7F33-8302CF57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0D9E3E-A886-9FE1-3454-C526B0CD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408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E8CC2A-7FD7-0685-E11E-0127991F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B7DD0F3-7819-EF79-3719-C40AD94A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EF50596-F800-1FFA-4416-7B369459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2EDD0C5-2C04-7ED5-7F90-73086BC8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38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21F50A-D5B7-CDA3-6D54-904EFF86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F742879-7AB8-FCED-ACF1-F944327D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D92E9D-B1CA-3B06-31DD-C22D2658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98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2F4A1-AFCA-565D-CA00-1AB8EAF6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9255D1-57AA-F357-4558-F31CA829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5BCA011-0155-6BD7-AD18-13AD86D12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ECD164-1E56-C904-479B-5E9B41D6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06DB0-54D0-216F-514F-32389CD6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3AE05C-A591-8A79-2654-4EE93644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60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9405A-8BB9-550C-7931-2BE7C855C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2AE16E8-89E2-9385-7E4C-43A40A65C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EE53F7-34DD-9EB2-C15A-065555AF2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B6D6D7-C4DE-8D28-B4A0-1250E1B1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C68391-2D8D-4A2A-3C43-FDE65398A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BF11BB-AEE6-CDD8-FD08-E43F71B3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4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62E1B8-B318-21DF-939E-27F0B990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B38062-0CE2-15AA-0FED-D1ED4A8BE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0791A7-4745-3C5C-DB34-5243B871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C8CAD7-4A47-3AE3-E3FC-723DF8B8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026964-8159-9F48-F0E8-C521F2C9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31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EDBC2DE-FC1C-06C7-431E-589DF98ED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E3DEBD-199E-5ED3-144D-9A7CB197A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82442B-D29E-3881-5B57-FD8D7788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6DA4B6-8247-B50C-B4D7-583438B1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FC3-E851-AC85-3B56-C5F910CE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302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F8FAA2ED-CE8C-4CA4-92E3-E2C5E08407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854" r="25345" b="27727"/>
          <a:stretch/>
        </p:blipFill>
        <p:spPr>
          <a:xfrm>
            <a:off x="1103446" y="601743"/>
            <a:ext cx="1250125" cy="3291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>
                <a:solidFill>
                  <a:srgbClr val="008FC4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35360" y="3501008"/>
            <a:ext cx="9889099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1F10841E-58C4-40F5-AB87-66E5F3AFB5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581"/>
          <a:stretch/>
        </p:blipFill>
        <p:spPr>
          <a:xfrm>
            <a:off x="0" y="5738"/>
            <a:ext cx="3128181" cy="61494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6C13D81-E70D-4CE7-B6CC-32FCA0D44A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327" b="15074"/>
          <a:stretch/>
        </p:blipFill>
        <p:spPr>
          <a:xfrm>
            <a:off x="2353571" y="633235"/>
            <a:ext cx="3860800" cy="24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18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980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641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053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450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734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536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3508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708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145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83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B49E9F7-2CCA-9638-149C-A6801F065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ADBA5D-E6FC-831D-61A5-5BFF93152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1AC40C-1BC9-0BB1-964F-DC0C8747D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F9C1A-3528-47D7-9DBD-D23441465755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5E8620-E116-12E1-7450-49C11F2C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934E28-D756-645E-F683-ACF30D6EB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18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1F2E14E-90DA-4348-BFC3-233F8518E0D1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月亮 10">
            <a:extLst>
              <a:ext uri="{FF2B5EF4-FFF2-40B4-BE49-F238E27FC236}">
                <a16:creationId xmlns:a16="http://schemas.microsoft.com/office/drawing/2014/main" id="{097930DD-E992-4608-A547-41CB73771488}"/>
              </a:ext>
            </a:extLst>
          </p:cNvPr>
          <p:cNvSpPr/>
          <p:nvPr/>
        </p:nvSpPr>
        <p:spPr>
          <a:xfrm rot="2628425" flipH="1">
            <a:off x="10873135" y="5329912"/>
            <a:ext cx="1795152" cy="2321299"/>
          </a:xfrm>
          <a:prstGeom prst="moon">
            <a:avLst>
              <a:gd name="adj" fmla="val 59357"/>
            </a:avLst>
          </a:prstGeom>
          <a:solidFill>
            <a:srgbClr val="008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3" name="月亮 12">
            <a:extLst>
              <a:ext uri="{FF2B5EF4-FFF2-40B4-BE49-F238E27FC236}">
                <a16:creationId xmlns:a16="http://schemas.microsoft.com/office/drawing/2014/main" id="{42285FFD-56C1-4570-9837-41F03CBC48B2}"/>
              </a:ext>
            </a:extLst>
          </p:cNvPr>
          <p:cNvSpPr/>
          <p:nvPr/>
        </p:nvSpPr>
        <p:spPr>
          <a:xfrm rot="14055851" flipH="1">
            <a:off x="36315" y="-562138"/>
            <a:ext cx="511864" cy="1261271"/>
          </a:xfrm>
          <a:prstGeom prst="moon">
            <a:avLst>
              <a:gd name="adj" fmla="val 59357"/>
            </a:avLst>
          </a:prstGeom>
          <a:solidFill>
            <a:srgbClr val="008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123957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8FC4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nippet-generator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CC7E27-5E1F-53FF-05BC-FE8B9C22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12A284D-8000-860D-A366-D77D742F71DA}"/>
              </a:ext>
            </a:extLst>
          </p:cNvPr>
          <p:cNvSpPr txBox="1"/>
          <p:nvPr/>
        </p:nvSpPr>
        <p:spPr>
          <a:xfrm>
            <a:off x="681644" y="91442"/>
            <a:ext cx="1064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主要是大量修改須求時，有內建一些常用的功能，也有</a:t>
            </a:r>
            <a:r>
              <a:rPr lang="en-US" altLang="zh-TW" dirty="0"/>
              <a:t>mac &amp; win</a:t>
            </a:r>
            <a:r>
              <a:rPr lang="zh-TW" altLang="en-US" dirty="0"/>
              <a:t>版本，也有其他軟體，這個較簡單方便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74415B-018C-8686-257C-74A44D213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91" y="2449106"/>
            <a:ext cx="5315692" cy="167663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D355E62-0B8C-4272-F1B2-C87608BCE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2755"/>
            <a:ext cx="2943636" cy="24196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9983771-F03F-8F51-43F8-C6208C231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608" y="655029"/>
            <a:ext cx="4115374" cy="624927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0BE8928-9E14-4369-77E1-CDB6F745FEF7}"/>
              </a:ext>
            </a:extLst>
          </p:cNvPr>
          <p:cNvSpPr txBox="1"/>
          <p:nvPr/>
        </p:nvSpPr>
        <p:spPr>
          <a:xfrm>
            <a:off x="359118" y="1508132"/>
            <a:ext cx="2636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在設置</a:t>
            </a:r>
            <a:r>
              <a:rPr lang="en-US" altLang="zh-TW" sz="2400" dirty="0">
                <a:solidFill>
                  <a:srgbClr val="FF0000"/>
                </a:solidFill>
              </a:rPr>
              <a:t>-&gt;</a:t>
            </a:r>
            <a:r>
              <a:rPr lang="zh-TW" altLang="en-US" sz="2400" dirty="0">
                <a:solidFill>
                  <a:srgbClr val="FF0000"/>
                </a:solidFill>
              </a:rPr>
              <a:t>最上面語系可改繁中</a:t>
            </a:r>
          </a:p>
        </p:txBody>
      </p:sp>
    </p:spTree>
    <p:extLst>
      <p:ext uri="{BB962C8B-B14F-4D97-AF65-F5344CB8AC3E}">
        <p14:creationId xmlns:p14="http://schemas.microsoft.com/office/powerpoint/2010/main" val="218589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497293B2-2453-0736-617B-83934796D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982" y="0"/>
            <a:ext cx="1838582" cy="201958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87434EE-00D7-76CB-D334-997AA7EEA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791" y="1925403"/>
            <a:ext cx="5315692" cy="167663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DBB2BB-D8FB-888B-98BB-0DD7366BE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A787FA-AE9C-6D57-4937-286A7E9362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51684B-62FA-3D53-37AD-A7D3E2492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69052"/>
            <a:ext cx="2943636" cy="24196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028FA4-F06E-8C43-088A-A222FAA05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608" y="131326"/>
            <a:ext cx="4115374" cy="624927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A8FDF59-5194-F392-62BE-D65F51491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535" y="1798271"/>
            <a:ext cx="4182059" cy="502990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C17593B-D54B-13D6-EDA5-A5B04A2CE7AF}"/>
              </a:ext>
            </a:extLst>
          </p:cNvPr>
          <p:cNvSpPr/>
          <p:nvPr/>
        </p:nvSpPr>
        <p:spPr>
          <a:xfrm>
            <a:off x="37230" y="4939749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2F633D-21F2-605A-CD51-4F36F417CE4C}"/>
              </a:ext>
            </a:extLst>
          </p:cNvPr>
          <p:cNvSpPr/>
          <p:nvPr/>
        </p:nvSpPr>
        <p:spPr>
          <a:xfrm>
            <a:off x="3303104" y="807969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F441F1-FDD4-023F-2708-9636F05A1A71}"/>
              </a:ext>
            </a:extLst>
          </p:cNvPr>
          <p:cNvSpPr/>
          <p:nvPr/>
        </p:nvSpPr>
        <p:spPr>
          <a:xfrm>
            <a:off x="5042453" y="4939749"/>
            <a:ext cx="944217" cy="3180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AAFF02-9961-9C52-9F38-88413DF0FB40}"/>
              </a:ext>
            </a:extLst>
          </p:cNvPr>
          <p:cNvSpPr/>
          <p:nvPr/>
        </p:nvSpPr>
        <p:spPr>
          <a:xfrm>
            <a:off x="7994373" y="2573523"/>
            <a:ext cx="1427923" cy="865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072F49-11EC-E2BC-33F7-2BE4126F22D3}"/>
              </a:ext>
            </a:extLst>
          </p:cNvPr>
          <p:cNvSpPr/>
          <p:nvPr/>
        </p:nvSpPr>
        <p:spPr>
          <a:xfrm>
            <a:off x="8083827" y="4841038"/>
            <a:ext cx="2203173" cy="1509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08FF207-AC8D-6430-EB9C-5F8582D5EE4A}"/>
              </a:ext>
            </a:extLst>
          </p:cNvPr>
          <p:cNvSpPr txBox="1"/>
          <p:nvPr/>
        </p:nvSpPr>
        <p:spPr>
          <a:xfrm>
            <a:off x="359118" y="211346"/>
            <a:ext cx="2636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在設置</a:t>
            </a:r>
            <a:r>
              <a:rPr lang="en-US" altLang="zh-TW" sz="2400" dirty="0">
                <a:solidFill>
                  <a:srgbClr val="FF0000"/>
                </a:solidFill>
              </a:rPr>
              <a:t>-&gt;</a:t>
            </a:r>
            <a:r>
              <a:rPr lang="zh-TW" altLang="en-US" sz="2400" dirty="0">
                <a:solidFill>
                  <a:srgbClr val="FF0000"/>
                </a:solidFill>
              </a:rPr>
              <a:t>最上面語系可改繁中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B095A2-453E-441E-037A-65B5143BA9EE}"/>
              </a:ext>
            </a:extLst>
          </p:cNvPr>
          <p:cNvSpPr/>
          <p:nvPr/>
        </p:nvSpPr>
        <p:spPr>
          <a:xfrm>
            <a:off x="178135" y="2373421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0995BF-9D24-0343-A46F-61F037CE41BA}"/>
              </a:ext>
            </a:extLst>
          </p:cNvPr>
          <p:cNvSpPr/>
          <p:nvPr/>
        </p:nvSpPr>
        <p:spPr>
          <a:xfrm>
            <a:off x="8125811" y="380637"/>
            <a:ext cx="1683207" cy="741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15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7F784A2-FAFD-4361-C732-34CA61974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3" y="0"/>
            <a:ext cx="11345333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5078D62-9536-39D1-E82F-C1342D4DB025}"/>
              </a:ext>
            </a:extLst>
          </p:cNvPr>
          <p:cNvSpPr/>
          <p:nvPr/>
        </p:nvSpPr>
        <p:spPr>
          <a:xfrm>
            <a:off x="2951921" y="377687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1C07BF-EFB7-D784-4B2A-AF2FDACB4C81}"/>
              </a:ext>
            </a:extLst>
          </p:cNvPr>
          <p:cNvSpPr/>
          <p:nvPr/>
        </p:nvSpPr>
        <p:spPr>
          <a:xfrm>
            <a:off x="1351722" y="2305877"/>
            <a:ext cx="1500808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E4A1C6-47F7-239E-CAB9-85F285FAA61D}"/>
              </a:ext>
            </a:extLst>
          </p:cNvPr>
          <p:cNvSpPr txBox="1"/>
          <p:nvPr/>
        </p:nvSpPr>
        <p:spPr>
          <a:xfrm>
            <a:off x="7463547" y="193021"/>
            <a:ext cx="2118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rgbClr val="C00000"/>
                </a:solidFill>
              </a:rPr>
              <a:t>練</a:t>
            </a:r>
            <a:r>
              <a:rPr lang="en-US" altLang="zh-TW" sz="3600" dirty="0">
                <a:solidFill>
                  <a:srgbClr val="C00000"/>
                </a:solidFill>
              </a:rPr>
              <a:t>10min</a:t>
            </a:r>
            <a:endParaRPr lang="zh-TW" altLang="en-US" sz="3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AE3E8E-1E28-965D-376D-69D72DE3100F}"/>
              </a:ext>
            </a:extLst>
          </p:cNvPr>
          <p:cNvSpPr txBox="1"/>
          <p:nvPr/>
        </p:nvSpPr>
        <p:spPr>
          <a:xfrm>
            <a:off x="3165243" y="1828823"/>
            <a:ext cx="9026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</a:rPr>
              <a:t>不會覆蓋原檔案，因為檔名會不同，新檔名可加</a:t>
            </a:r>
            <a:r>
              <a:rPr lang="en-US" altLang="zh-TW" sz="2800" dirty="0">
                <a:solidFill>
                  <a:srgbClr val="FF0000"/>
                </a:solidFill>
              </a:rPr>
              <a:t>ok</a:t>
            </a:r>
            <a:r>
              <a:rPr lang="zh-TW" altLang="en-US" sz="2800" dirty="0">
                <a:solidFill>
                  <a:srgbClr val="FF0000"/>
                </a:solidFill>
              </a:rPr>
              <a:t>做區別，其他設定先不動</a:t>
            </a:r>
          </a:p>
        </p:txBody>
      </p:sp>
    </p:spTree>
    <p:extLst>
      <p:ext uri="{BB962C8B-B14F-4D97-AF65-F5344CB8AC3E}">
        <p14:creationId xmlns:p14="http://schemas.microsoft.com/office/powerpoint/2010/main" val="208587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404664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B050"/>
                </a:solidFill>
              </a:rPr>
              <a:t>6-2   Bootstrap</a:t>
            </a:r>
            <a:r>
              <a:rPr lang="zh-TW" altLang="en-US" b="1" dirty="0">
                <a:solidFill>
                  <a:srgbClr val="00B050"/>
                </a:solidFill>
              </a:rPr>
              <a:t>的版本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6800" y="1412776"/>
            <a:ext cx="10420350" cy="48245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Bootstrap</a:t>
            </a:r>
            <a:r>
              <a:rPr lang="zh-TW" altLang="en-US" dirty="0"/>
              <a:t>和目前主流的瀏覽器相容，最新版為</a:t>
            </a:r>
            <a:r>
              <a:rPr lang="en-US" altLang="zh-TW" dirty="0"/>
              <a:t>5.0</a:t>
            </a:r>
            <a:r>
              <a:rPr lang="zh-TW" altLang="en-US" dirty="0"/>
              <a:t>版，比較顯著的改變如下：</a:t>
            </a:r>
          </a:p>
          <a:p>
            <a:pPr algn="just"/>
            <a:r>
              <a:rPr lang="zh-TW" altLang="en-US" dirty="0"/>
              <a:t>移除</a:t>
            </a:r>
            <a:r>
              <a:rPr lang="en-US" altLang="zh-TW" dirty="0"/>
              <a:t>jQuery</a:t>
            </a:r>
          </a:p>
          <a:p>
            <a:pPr algn="just"/>
            <a:r>
              <a:rPr lang="zh-TW" altLang="en-US" dirty="0"/>
              <a:t>單純使用</a:t>
            </a:r>
            <a:r>
              <a:rPr lang="en-US" altLang="zh-TW" dirty="0"/>
              <a:t>JavaScript</a:t>
            </a:r>
          </a:p>
          <a:p>
            <a:pPr algn="just"/>
            <a:r>
              <a:rPr lang="zh-TW" altLang="en-US" dirty="0"/>
              <a:t>放棄支援</a:t>
            </a:r>
            <a:r>
              <a:rPr lang="en-US" altLang="zh-TW" dirty="0"/>
              <a:t>Internet Explorer 10/11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若須要支援舊版</a:t>
            </a:r>
            <a:r>
              <a:rPr lang="en-US" altLang="zh-TW" dirty="0">
                <a:solidFill>
                  <a:srgbClr val="FF0000"/>
                </a:solidFill>
              </a:rPr>
              <a:t>IE</a:t>
            </a:r>
            <a:r>
              <a:rPr lang="zh-TW" altLang="en-US" dirty="0">
                <a:solidFill>
                  <a:srgbClr val="FF0000"/>
                </a:solidFill>
              </a:rPr>
              <a:t>就得降到</a:t>
            </a:r>
            <a:r>
              <a:rPr lang="en-US" altLang="zh-TW" dirty="0">
                <a:solidFill>
                  <a:srgbClr val="FF0000"/>
                </a:solidFill>
              </a:rPr>
              <a:t>V4)</a:t>
            </a:r>
          </a:p>
          <a:p>
            <a:pPr algn="just"/>
            <a:r>
              <a:rPr lang="zh-TW" altLang="en-US" dirty="0"/>
              <a:t>改良的網格系統 </a:t>
            </a:r>
            <a:r>
              <a:rPr lang="en-US" altLang="zh-TW" dirty="0"/>
              <a:t>(grid system)</a:t>
            </a:r>
          </a:p>
          <a:p>
            <a:pPr algn="just"/>
            <a:r>
              <a:rPr lang="zh-TW" altLang="en-US" dirty="0"/>
              <a:t>改良的文件說明 </a:t>
            </a:r>
            <a:r>
              <a:rPr lang="en-US" altLang="zh-TW" dirty="0"/>
              <a:t>(documentation)</a:t>
            </a:r>
          </a:p>
          <a:p>
            <a:pPr algn="just"/>
            <a:r>
              <a:rPr lang="zh-TW" altLang="en-US" dirty="0"/>
              <a:t>改良的表單</a:t>
            </a:r>
          </a:p>
          <a:p>
            <a:pPr algn="just"/>
            <a:r>
              <a:rPr lang="zh-TW" altLang="en-US" dirty="0"/>
              <a:t>改良的模組化</a:t>
            </a:r>
          </a:p>
          <a:p>
            <a:pPr algn="just"/>
            <a:r>
              <a:rPr lang="zh-TW" altLang="en-US" dirty="0"/>
              <a:t>全新的響應式字型 </a:t>
            </a:r>
            <a:r>
              <a:rPr lang="en-US" altLang="zh-TW" dirty="0"/>
              <a:t>(responsive font)</a:t>
            </a:r>
          </a:p>
          <a:p>
            <a:pPr algn="just"/>
            <a:r>
              <a:rPr lang="zh-TW" altLang="en-US" dirty="0"/>
              <a:t>全新的公用程式與</a:t>
            </a:r>
            <a:r>
              <a:rPr lang="en-US" altLang="zh-TW" dirty="0"/>
              <a:t>API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36D6D22-FE99-E3C7-30C9-F0F297872D46}"/>
              </a:ext>
            </a:extLst>
          </p:cNvPr>
          <p:cNvSpPr txBox="1"/>
          <p:nvPr/>
        </p:nvSpPr>
        <p:spPr>
          <a:xfrm>
            <a:off x="6352162" y="3560323"/>
            <a:ext cx="5593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bs</a:t>
            </a:r>
            <a:r>
              <a:rPr lang="zh-TW" altLang="en-US" sz="2400" dirty="0"/>
              <a:t>優點是高效率完成，但</a:t>
            </a:r>
            <a:r>
              <a:rPr lang="en-US" altLang="zh-TW" sz="2400" dirty="0"/>
              <a:t>BS</a:t>
            </a:r>
            <a:r>
              <a:rPr lang="zh-TW" altLang="en-US" sz="2400" dirty="0"/>
              <a:t>也是有極限，無法完全滿足須求，所以也是須要再搭配</a:t>
            </a:r>
            <a:r>
              <a:rPr lang="en-US" altLang="zh-TW" sz="2400" dirty="0" err="1"/>
              <a:t>css</a:t>
            </a:r>
            <a:r>
              <a:rPr lang="zh-TW" altLang="en-US" sz="2400" dirty="0"/>
              <a:t>、</a:t>
            </a:r>
            <a:r>
              <a:rPr lang="en-US" altLang="zh-TW" sz="2400" dirty="0" err="1"/>
              <a:t>js</a:t>
            </a:r>
            <a:r>
              <a:rPr lang="zh-TW" altLang="en-US" sz="2400" dirty="0"/>
              <a:t>來輔助</a:t>
            </a:r>
          </a:p>
        </p:txBody>
      </p:sp>
    </p:spTree>
    <p:extLst>
      <p:ext uri="{BB962C8B-B14F-4D97-AF65-F5344CB8AC3E}">
        <p14:creationId xmlns:p14="http://schemas.microsoft.com/office/powerpoint/2010/main" val="287849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DB18568-297F-0BE0-B950-CB161F7BB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58"/>
            <a:ext cx="6544588" cy="334374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825C9B5-4C01-B19C-4AC6-5E5750712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1197"/>
            <a:ext cx="6354062" cy="142894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4550F33-2817-D8A0-DEF3-092EEE9222E4}"/>
              </a:ext>
            </a:extLst>
          </p:cNvPr>
          <p:cNvSpPr txBox="1"/>
          <p:nvPr/>
        </p:nvSpPr>
        <p:spPr>
          <a:xfrm>
            <a:off x="7824665" y="506896"/>
            <a:ext cx="418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找官網，英文才是，下面六角的中文翻譯可參考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88D50FD-1FBB-CAA2-66F7-1AA21A19C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270" y="1458289"/>
            <a:ext cx="5001323" cy="101931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F3461C5-9112-0CB7-485D-F69E58029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358" y="2424497"/>
            <a:ext cx="5439534" cy="488700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76E8C18-8F97-3B0B-8B46-72697D4B55B5}"/>
              </a:ext>
            </a:extLst>
          </p:cNvPr>
          <p:cNvSpPr/>
          <p:nvPr/>
        </p:nvSpPr>
        <p:spPr>
          <a:xfrm>
            <a:off x="1558373" y="154849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879D43-EF09-97FA-D781-0A31111252ED}"/>
              </a:ext>
            </a:extLst>
          </p:cNvPr>
          <p:cNvSpPr/>
          <p:nvPr/>
        </p:nvSpPr>
        <p:spPr>
          <a:xfrm>
            <a:off x="139148" y="1333499"/>
            <a:ext cx="1194352" cy="752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2CA2E4-B1D0-D268-1E60-E324CFA9D4D6}"/>
              </a:ext>
            </a:extLst>
          </p:cNvPr>
          <p:cNvSpPr/>
          <p:nvPr/>
        </p:nvSpPr>
        <p:spPr>
          <a:xfrm>
            <a:off x="139148" y="4113807"/>
            <a:ext cx="1194352" cy="517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41C395-0666-FB8F-23AB-B26728FB0202}"/>
              </a:ext>
            </a:extLst>
          </p:cNvPr>
          <p:cNvSpPr/>
          <p:nvPr/>
        </p:nvSpPr>
        <p:spPr>
          <a:xfrm>
            <a:off x="8302073" y="4211881"/>
            <a:ext cx="1842052" cy="709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EB96C38-911B-AF17-2A67-C5CC77BAA6E7}"/>
              </a:ext>
            </a:extLst>
          </p:cNvPr>
          <p:cNvSpPr txBox="1"/>
          <p:nvPr/>
        </p:nvSpPr>
        <p:spPr>
          <a:xfrm>
            <a:off x="9544050" y="372831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</a:rPr>
              <a:t>已包含這兩個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F8E32F-00B2-1B56-86D6-71E036D64DE5}"/>
              </a:ext>
            </a:extLst>
          </p:cNvPr>
          <p:cNvSpPr/>
          <p:nvPr/>
        </p:nvSpPr>
        <p:spPr>
          <a:xfrm>
            <a:off x="6702429" y="6148772"/>
            <a:ext cx="1431921" cy="709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C0F6E2-C327-EA8D-73CC-3A50B94B0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7502" y="44625"/>
            <a:ext cx="4692251" cy="141350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B6BE569-244D-031D-190E-C0D3AF1A4E6E}"/>
              </a:ext>
            </a:extLst>
          </p:cNvPr>
          <p:cNvSpPr/>
          <p:nvPr/>
        </p:nvSpPr>
        <p:spPr>
          <a:xfrm>
            <a:off x="4006506" y="307249"/>
            <a:ext cx="3230873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F4CF156-E09B-AEA4-02BC-4B69EEE64FF4}"/>
              </a:ext>
            </a:extLst>
          </p:cNvPr>
          <p:cNvSpPr txBox="1"/>
          <p:nvPr/>
        </p:nvSpPr>
        <p:spPr>
          <a:xfrm>
            <a:off x="340822" y="5444836"/>
            <a:ext cx="5003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版本說明：最新是</a:t>
            </a:r>
            <a:r>
              <a:rPr lang="en-US" altLang="zh-TW" dirty="0"/>
              <a:t>v5</a:t>
            </a:r>
            <a:r>
              <a:rPr lang="zh-TW" altLang="en-US" dirty="0"/>
              <a:t>，網路上應該還很多</a:t>
            </a:r>
            <a:r>
              <a:rPr lang="en-US" altLang="zh-TW" dirty="0"/>
              <a:t>v3</a:t>
            </a:r>
            <a:r>
              <a:rPr lang="zh-TW" altLang="en-US" dirty="0"/>
              <a:t>、</a:t>
            </a:r>
            <a:r>
              <a:rPr lang="en-US" altLang="zh-TW" dirty="0"/>
              <a:t>v4</a:t>
            </a:r>
          </a:p>
          <a:p>
            <a:r>
              <a:rPr lang="zh-TW" altLang="en-US" dirty="0"/>
              <a:t>官網及六角有蠻多說明可參考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283D4EA-61F2-CD3B-27E4-5557E6DC59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8307" y="915552"/>
            <a:ext cx="2114845" cy="197195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2CF4187-2B6B-220A-B524-9E4EF2D0DD28}"/>
              </a:ext>
            </a:extLst>
          </p:cNvPr>
          <p:cNvSpPr/>
          <p:nvPr/>
        </p:nvSpPr>
        <p:spPr>
          <a:xfrm>
            <a:off x="340821" y="2943483"/>
            <a:ext cx="4264429" cy="517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27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0F73E0C-371D-C650-60B1-DCA58186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1" y="2314371"/>
            <a:ext cx="11946017" cy="2915057"/>
          </a:xfrm>
          <a:prstGeom prst="rect">
            <a:avLst/>
          </a:prstGeom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C7C1215-EDE5-7FA7-14DE-314CD56C8E93}"/>
              </a:ext>
            </a:extLst>
          </p:cNvPr>
          <p:cNvSpPr txBox="1">
            <a:spLocks/>
          </p:cNvSpPr>
          <p:nvPr/>
        </p:nvSpPr>
        <p:spPr>
          <a:xfrm>
            <a:off x="161013" y="81907"/>
            <a:ext cx="7859037" cy="5058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TW" altLang="en-US" dirty="0">
                <a:solidFill>
                  <a:srgbClr val="C00000"/>
                </a:solidFill>
              </a:rPr>
              <a:t>方式一：下載 </a:t>
            </a:r>
            <a:r>
              <a:rPr lang="en-US" altLang="zh-TW" dirty="0">
                <a:solidFill>
                  <a:srgbClr val="C00000"/>
                </a:solidFill>
              </a:rPr>
              <a:t>Bootstrap </a:t>
            </a:r>
            <a:r>
              <a:rPr lang="zh-TW" altLang="en-US" dirty="0">
                <a:solidFill>
                  <a:srgbClr val="C00000"/>
                </a:solidFill>
              </a:rPr>
              <a:t>套件   </a:t>
            </a:r>
            <a:r>
              <a:rPr lang="en-US" altLang="zh-TW" dirty="0">
                <a:solidFill>
                  <a:srgbClr val="C00000"/>
                </a:solidFill>
              </a:rPr>
              <a:t>test1.html </a:t>
            </a:r>
            <a:r>
              <a:rPr lang="zh-TW" altLang="en-US" dirty="0">
                <a:solidFill>
                  <a:srgbClr val="C00000"/>
                </a:solidFill>
              </a:rPr>
              <a:t>練</a:t>
            </a:r>
            <a:r>
              <a:rPr lang="en-US" altLang="zh-TW" dirty="0">
                <a:solidFill>
                  <a:srgbClr val="C00000"/>
                </a:solidFill>
              </a:rPr>
              <a:t>10min</a:t>
            </a:r>
          </a:p>
          <a:p>
            <a:pPr marL="0" indent="0" algn="just">
              <a:buNone/>
            </a:pPr>
            <a:endParaRPr lang="en-US" altLang="zh-TW" sz="1000" dirty="0"/>
          </a:p>
          <a:p>
            <a:pPr marL="457200" indent="-457200" algn="just">
              <a:buFont typeface="+mj-lt"/>
              <a:buAutoNum type="arabicPeriod"/>
            </a:pPr>
            <a:r>
              <a:rPr lang="zh-TW" altLang="en-US" sz="2000" dirty="0"/>
              <a:t>到</a:t>
            </a:r>
            <a:r>
              <a:rPr lang="en-US" altLang="zh-TW" sz="2000" dirty="0"/>
              <a:t>Bootstrap</a:t>
            </a:r>
            <a:r>
              <a:rPr lang="zh-TW" altLang="en-US" sz="2000" dirty="0"/>
              <a:t>官方網站下載</a:t>
            </a:r>
            <a:r>
              <a:rPr lang="en-US" altLang="zh-TW" sz="2000" dirty="0"/>
              <a:t>Bootstrap</a:t>
            </a:r>
            <a:r>
              <a:rPr lang="zh-TW" altLang="en-US" sz="2000" dirty="0"/>
              <a:t>套件。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zh-TW" altLang="en-US" sz="2000" dirty="0"/>
              <a:t>將下載回來的檔案解壓縮，將之複製到</a:t>
            </a:r>
            <a:r>
              <a:rPr lang="zh-TW" altLang="en-US" b="1" dirty="0">
                <a:solidFill>
                  <a:srgbClr val="FF0000"/>
                </a:solidFill>
              </a:rPr>
              <a:t>網站</a:t>
            </a:r>
            <a:r>
              <a:rPr lang="en-US" altLang="zh-TW" b="1" dirty="0">
                <a:solidFill>
                  <a:srgbClr val="FF0000"/>
                </a:solidFill>
              </a:rPr>
              <a:t>(</a:t>
            </a:r>
            <a:r>
              <a:rPr lang="zh-TW" altLang="en-US" b="1" dirty="0">
                <a:solidFill>
                  <a:srgbClr val="FF0000"/>
                </a:solidFill>
              </a:rPr>
              <a:t>放網頁的根目錄</a:t>
            </a:r>
            <a:r>
              <a:rPr lang="zh-TW" altLang="en-US" sz="2000" dirty="0"/>
              <a:t>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zh-TW" altLang="en-US" sz="2000" dirty="0"/>
              <a:t>在網頁的 </a:t>
            </a:r>
            <a:r>
              <a:rPr lang="en-US" altLang="zh-TW" sz="2000" dirty="0"/>
              <a:t>&lt;head&gt; </a:t>
            </a:r>
            <a:r>
              <a:rPr lang="zh-TW" altLang="en-US" sz="2000" dirty="0"/>
              <a:t>區塊加入第</a:t>
            </a:r>
            <a:r>
              <a:rPr lang="en-US" altLang="zh-TW" sz="2000" dirty="0"/>
              <a:t>05</a:t>
            </a:r>
            <a:r>
              <a:rPr lang="zh-TW" altLang="en-US" sz="2000" dirty="0"/>
              <a:t>行的程式碼，至於第</a:t>
            </a:r>
            <a:r>
              <a:rPr lang="en-US" altLang="zh-TW" sz="2000" dirty="0"/>
              <a:t>09</a:t>
            </a:r>
            <a:r>
              <a:rPr lang="zh-TW" altLang="en-US" sz="2000" dirty="0"/>
              <a:t>行的程式碼則可以放在 </a:t>
            </a:r>
            <a:r>
              <a:rPr lang="en-US" altLang="zh-TW" sz="2000" dirty="0"/>
              <a:t>&lt;/body&gt; </a:t>
            </a:r>
            <a:r>
              <a:rPr lang="zh-TW" altLang="en-US" sz="2000" dirty="0"/>
              <a:t>結尾標籤前面。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5AACA4-3D48-3B52-A5BB-D85A9321D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069" y="309437"/>
            <a:ext cx="5992061" cy="18004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5A53C94-0735-A63F-0F25-BB0C617E0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13" y="5258003"/>
            <a:ext cx="2438740" cy="137179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DBF16B6-CBA9-3D2E-A398-FD115A04A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654" y="5719026"/>
            <a:ext cx="828791" cy="73352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FF47FD-2F3B-D731-1027-DFEE218490DE}"/>
              </a:ext>
            </a:extLst>
          </p:cNvPr>
          <p:cNvSpPr txBox="1"/>
          <p:nvPr/>
        </p:nvSpPr>
        <p:spPr>
          <a:xfrm>
            <a:off x="2819400" y="5762625"/>
            <a:ext cx="3384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DEMO 6</a:t>
            </a:r>
            <a:r>
              <a:rPr lang="zh-TW" altLang="en-US" dirty="0"/>
              <a:t>、</a:t>
            </a:r>
            <a:r>
              <a:rPr lang="en-US" altLang="zh-TW" dirty="0"/>
              <a:t>7</a:t>
            </a:r>
            <a:r>
              <a:rPr lang="zh-TW" altLang="en-US" dirty="0"/>
              <a:t>行雖有加引用檔案了</a:t>
            </a:r>
            <a:endParaRPr lang="en-US" altLang="zh-TW" dirty="0"/>
          </a:p>
          <a:p>
            <a:r>
              <a:rPr lang="zh-TW" altLang="en-US" dirty="0"/>
              <a:t>但</a:t>
            </a:r>
            <a:r>
              <a:rPr lang="zh-TW" altLang="en-US" dirty="0">
                <a:solidFill>
                  <a:srgbClr val="FF0000"/>
                </a:solidFill>
              </a:rPr>
              <a:t>還是沒作用</a:t>
            </a:r>
            <a:r>
              <a:rPr lang="en-US" altLang="zh-TW" dirty="0"/>
              <a:t>(</a:t>
            </a:r>
            <a:r>
              <a:rPr lang="zh-TW" altLang="en-US" dirty="0"/>
              <a:t>下頁介紹</a:t>
            </a:r>
            <a:r>
              <a:rPr lang="en-US" altLang="zh-TW" dirty="0"/>
              <a:t>bs</a:t>
            </a:r>
            <a:r>
              <a:rPr lang="zh-TW" altLang="en-US" dirty="0"/>
              <a:t>結構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66586B-24A5-2954-6D0A-5A904BED0FE0}"/>
              </a:ext>
            </a:extLst>
          </p:cNvPr>
          <p:cNvSpPr/>
          <p:nvPr/>
        </p:nvSpPr>
        <p:spPr>
          <a:xfrm>
            <a:off x="218163" y="5719025"/>
            <a:ext cx="2048787" cy="205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4F49D1-70F2-260C-FA28-5579555846B5}"/>
              </a:ext>
            </a:extLst>
          </p:cNvPr>
          <p:cNvSpPr/>
          <p:nvPr/>
        </p:nvSpPr>
        <p:spPr>
          <a:xfrm>
            <a:off x="6901898" y="5719025"/>
            <a:ext cx="2775502" cy="709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A31773D-2B40-D749-2CED-02573F4AD40C}"/>
              </a:ext>
            </a:extLst>
          </p:cNvPr>
          <p:cNvSpPr txBox="1"/>
          <p:nvPr/>
        </p:nvSpPr>
        <p:spPr>
          <a:xfrm>
            <a:off x="8943975" y="120967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裏面這層才是我們要的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1B1960-179B-41B2-3179-FC2DC5A72261}"/>
              </a:ext>
            </a:extLst>
          </p:cNvPr>
          <p:cNvSpPr/>
          <p:nvPr/>
        </p:nvSpPr>
        <p:spPr>
          <a:xfrm>
            <a:off x="9768324" y="280862"/>
            <a:ext cx="1668641" cy="3956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8DF4EE-0A69-58E3-6B3D-6DB2A6D7E71F}"/>
              </a:ext>
            </a:extLst>
          </p:cNvPr>
          <p:cNvSpPr/>
          <p:nvPr/>
        </p:nvSpPr>
        <p:spPr>
          <a:xfrm>
            <a:off x="7605654" y="4256631"/>
            <a:ext cx="1110329" cy="412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FC9AC-B455-1EFC-AB4D-66E49C55ADE3}"/>
              </a:ext>
            </a:extLst>
          </p:cNvPr>
          <p:cNvSpPr/>
          <p:nvPr/>
        </p:nvSpPr>
        <p:spPr>
          <a:xfrm>
            <a:off x="10063513" y="3971283"/>
            <a:ext cx="1110329" cy="412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48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70F3AC0-0E07-EC02-6616-06D53B0E1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299"/>
            <a:ext cx="12192000" cy="594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3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CC686-3FBA-7532-1257-C3E979AFD3EB}"/>
              </a:ext>
            </a:extLst>
          </p:cNvPr>
          <p:cNvSpPr txBox="1">
            <a:spLocks/>
          </p:cNvSpPr>
          <p:nvPr/>
        </p:nvSpPr>
        <p:spPr>
          <a:xfrm>
            <a:off x="457200" y="476672"/>
            <a:ext cx="117348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rgbClr val="00B050"/>
                </a:solidFill>
              </a:rPr>
              <a:t>6-4   Bootstrap </a:t>
            </a:r>
            <a:r>
              <a:rPr lang="zh-TW" altLang="en-US" b="1" dirty="0">
                <a:solidFill>
                  <a:srgbClr val="00B050"/>
                </a:solidFill>
              </a:rPr>
              <a:t>網頁的基本結構，練習</a:t>
            </a:r>
            <a:r>
              <a:rPr lang="en-US" altLang="zh-TW" b="1" dirty="0">
                <a:solidFill>
                  <a:srgbClr val="00B050"/>
                </a:solidFill>
              </a:rPr>
              <a:t>test1.html</a:t>
            </a:r>
            <a:endParaRPr lang="zh-TW" altLang="en-US" b="1" dirty="0">
              <a:solidFill>
                <a:srgbClr val="00B05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280D1C-8903-43FE-FAB6-4BCC79663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017" y="1062146"/>
            <a:ext cx="6592220" cy="245779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75C69F3-E55E-0F90-5EE9-83C504215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90" y="3562487"/>
            <a:ext cx="5544324" cy="5048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301E3B2-9FC0-7CAC-A064-2C5BAC0F6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20" y="5638006"/>
            <a:ext cx="11336332" cy="111458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F4A982D-7046-CABC-958F-1EE8D74B6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90" y="4152477"/>
            <a:ext cx="5973009" cy="115268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ADA7363D-F723-EE81-CDDF-79B2F10B1411}"/>
              </a:ext>
            </a:extLst>
          </p:cNvPr>
          <p:cNvSpPr txBox="1"/>
          <p:nvPr/>
        </p:nvSpPr>
        <p:spPr>
          <a:xfrm>
            <a:off x="6848475" y="3759741"/>
            <a:ext cx="54168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一、加</a:t>
            </a:r>
            <a:r>
              <a:rPr lang="en-US" altLang="zh-TW" sz="2400" dirty="0"/>
              <a:t>container</a:t>
            </a:r>
            <a:r>
              <a:rPr lang="zh-TW" altLang="en-US" sz="2400" dirty="0"/>
              <a:t>就可看出效果</a:t>
            </a:r>
            <a:endParaRPr lang="en-US" altLang="zh-TW" sz="2400" dirty="0"/>
          </a:p>
          <a:p>
            <a:r>
              <a:rPr lang="zh-TW" altLang="en-US" sz="2400" dirty="0"/>
              <a:t>二、比較下面滿版和上面標準的差異，</a:t>
            </a:r>
            <a:endParaRPr lang="en-US" altLang="zh-TW" sz="2400" dirty="0"/>
          </a:p>
          <a:p>
            <a:r>
              <a:rPr lang="zh-TW" altLang="en-US" sz="2400" dirty="0"/>
              <a:t>雖名為滿版但也還有一點留空白，</a:t>
            </a:r>
            <a:endParaRPr lang="en-US" altLang="zh-TW" sz="2400" dirty="0"/>
          </a:p>
          <a:p>
            <a:r>
              <a:rPr lang="zh-TW" altLang="en-US" sz="2400" dirty="0"/>
              <a:t>因為在行動裝置上不可全滿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221F73-BBBC-F628-F7AA-6BB1C6259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95049"/>
            <a:ext cx="3410426" cy="2333951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F1164B9E-529D-1BEB-562C-21B6C02A54A3}"/>
              </a:ext>
            </a:extLst>
          </p:cNvPr>
          <p:cNvSpPr/>
          <p:nvPr/>
        </p:nvSpPr>
        <p:spPr>
          <a:xfrm>
            <a:off x="4348264" y="2110902"/>
            <a:ext cx="547990" cy="2821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50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8788F5-0151-90D8-5193-EF48362E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Test1.html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B90282-C1D4-ABA3-7373-2F2F9C0750FB}"/>
              </a:ext>
            </a:extLst>
          </p:cNvPr>
          <p:cNvSpPr txBox="1"/>
          <p:nvPr/>
        </p:nvSpPr>
        <p:spPr>
          <a:xfrm>
            <a:off x="838201" y="2108200"/>
            <a:ext cx="11099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一、用</a:t>
            </a:r>
            <a:r>
              <a:rPr lang="en-US" altLang="zh-TW" sz="2800" dirty="0"/>
              <a:t>f12</a:t>
            </a:r>
            <a:r>
              <a:rPr lang="zh-TW" altLang="en-US" sz="2800" dirty="0"/>
              <a:t>來檢視，發現有問題，手機裝置時，字變很小，原因是沒加</a:t>
            </a:r>
            <a:r>
              <a:rPr lang="en-US" altLang="zh-TW" sz="2800" dirty="0"/>
              <a:t>    &lt;meta name="viewport" content="width=device-width, initial-scale=1.0"&gt;</a:t>
            </a:r>
          </a:p>
          <a:p>
            <a:r>
              <a:rPr lang="zh-TW" altLang="en-US" sz="2800" dirty="0"/>
              <a:t>二、再說明一次結構的重要，舉例官網</a:t>
            </a:r>
            <a:r>
              <a:rPr lang="en-US" altLang="zh-TW" sz="2800" dirty="0"/>
              <a:t>layout-col</a:t>
            </a:r>
          </a:p>
          <a:p>
            <a:r>
              <a:rPr lang="zh-TW" altLang="en-US" sz="2800" dirty="0"/>
              <a:t>三、一列三欄說明是均分分佈，加顏色或寬度</a:t>
            </a:r>
            <a:r>
              <a:rPr lang="en-US" altLang="zh-TW" sz="2800" dirty="0"/>
              <a:t>3/6/3</a:t>
            </a:r>
          </a:p>
          <a:p>
            <a:r>
              <a:rPr lang="zh-TW" altLang="en-US" sz="2800" dirty="0"/>
              <a:t>四、</a:t>
            </a:r>
            <a:r>
              <a:rPr lang="en-US" altLang="zh-TW" sz="2800" dirty="0"/>
              <a:t>demo</a:t>
            </a:r>
            <a:r>
              <a:rPr lang="zh-TW" altLang="en-US" sz="2800" dirty="0"/>
              <a:t>超過</a:t>
            </a:r>
            <a:r>
              <a:rPr lang="en-US" altLang="zh-TW" sz="2800" dirty="0"/>
              <a:t>12</a:t>
            </a:r>
            <a:r>
              <a:rPr lang="zh-TW" altLang="en-US" sz="2800" dirty="0"/>
              <a:t>等分會放到第二行</a:t>
            </a:r>
            <a:r>
              <a:rPr lang="en-US" altLang="zh-TW" sz="2800" dirty="0"/>
              <a:t>3/9/3</a:t>
            </a:r>
          </a:p>
          <a:p>
            <a:endParaRPr lang="en-US" altLang="zh-TW" sz="2800" dirty="0"/>
          </a:p>
          <a:p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7A750C-198F-044D-2954-2881B498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207" y="1366793"/>
            <a:ext cx="3915321" cy="6477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7367C51-79F5-0A6B-F3BF-A30D863BE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978" y="-53333"/>
            <a:ext cx="4029637" cy="216247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175B18F-A4EB-10FE-00F9-51C891F1D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404" y="615859"/>
            <a:ext cx="4467849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2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A13BFC-45C7-5F06-EDB6-A259E022F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8" y="0"/>
            <a:ext cx="6973273" cy="222916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D4278C0-D5C7-29DB-64E8-3EF278D04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8" y="2785898"/>
            <a:ext cx="7154273" cy="235300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4533355-35C1-47DB-8DD9-D3BF2FF65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88" y="2267261"/>
            <a:ext cx="11374437" cy="52394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C5F46FC-D72D-28B6-AB7C-767B6ECEBBBD}"/>
              </a:ext>
            </a:extLst>
          </p:cNvPr>
          <p:cNvSpPr txBox="1"/>
          <p:nvPr/>
        </p:nvSpPr>
        <p:spPr>
          <a:xfrm>
            <a:off x="7362825" y="111458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不指定寬度的話，就是均分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0A301A0-01E8-414A-D751-786C46C76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8" y="5190970"/>
            <a:ext cx="11355385" cy="53347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D42C23F-35C2-61D9-9BB4-7E85F2349212}"/>
              </a:ext>
            </a:extLst>
          </p:cNvPr>
          <p:cNvSpPr txBox="1"/>
          <p:nvPr/>
        </p:nvSpPr>
        <p:spPr>
          <a:xfrm>
            <a:off x="7610475" y="3714750"/>
            <a:ext cx="3517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若超過</a:t>
            </a:r>
            <a:r>
              <a:rPr lang="en-US" altLang="zh-TW" dirty="0"/>
              <a:t>12</a:t>
            </a:r>
            <a:r>
              <a:rPr lang="zh-TW" altLang="en-US" dirty="0"/>
              <a:t>格的話，會排到下一行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9F560E6-B6E5-AA60-D335-D9496FD88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5599890"/>
            <a:ext cx="9930516" cy="145347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3F97213-C462-81C8-AFC6-45554E3DE8AF}"/>
              </a:ext>
            </a:extLst>
          </p:cNvPr>
          <p:cNvSpPr txBox="1">
            <a:spLocks/>
          </p:cNvSpPr>
          <p:nvPr/>
        </p:nvSpPr>
        <p:spPr>
          <a:xfrm>
            <a:off x="7258561" y="131414"/>
            <a:ext cx="357585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Test1.html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355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96B5CF-F0BF-FCFB-E8CC-8B649694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1BAB6-6502-3D77-150C-02D42B40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Test2.html  bs5</a:t>
            </a:r>
            <a:r>
              <a:rPr lang="zh-TW" altLang="en-US" dirty="0"/>
              <a:t>範本製作 </a:t>
            </a:r>
            <a:r>
              <a:rPr lang="zh-TW" altLang="en-US" dirty="0">
                <a:hlinkClick r:id="rId3"/>
              </a:rPr>
              <a:t>產生器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70E20E-DFE4-2F90-1C36-A501BBA49666}"/>
              </a:ext>
            </a:extLst>
          </p:cNvPr>
          <p:cNvSpPr txBox="1"/>
          <p:nvPr/>
        </p:nvSpPr>
        <p:spPr>
          <a:xfrm>
            <a:off x="254000" y="2108200"/>
            <a:ext cx="116840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一、</a:t>
            </a:r>
            <a:r>
              <a:rPr lang="en-US" altLang="zh-TW" sz="2800" dirty="0"/>
              <a:t>download</a:t>
            </a:r>
            <a:r>
              <a:rPr lang="zh-TW" altLang="en-US" sz="2800" dirty="0"/>
              <a:t>頁面下面有</a:t>
            </a:r>
            <a:r>
              <a:rPr lang="en-US" altLang="zh-TW" sz="2800" dirty="0" err="1"/>
              <a:t>cdn</a:t>
            </a:r>
            <a:r>
              <a:rPr lang="zh-TW" altLang="en-US" sz="2800" dirty="0"/>
              <a:t>連結</a:t>
            </a:r>
            <a:endParaRPr lang="en-US" altLang="zh-TW" sz="2800" dirty="0"/>
          </a:p>
          <a:p>
            <a:r>
              <a:rPr lang="zh-TW" altLang="en-US" sz="2800" dirty="0"/>
              <a:t>二、先選第一個連結，把</a:t>
            </a:r>
            <a:r>
              <a:rPr lang="en-US" altLang="zh-TW" sz="2800" dirty="0" err="1"/>
              <a:t>js</a:t>
            </a:r>
            <a:r>
              <a:rPr lang="en-US" altLang="zh-TW" sz="2800" dirty="0"/>
              <a:t>(bundle) mark</a:t>
            </a:r>
            <a:r>
              <a:rPr lang="zh-TW" altLang="en-US" sz="2800" dirty="0"/>
              <a:t>掉</a:t>
            </a:r>
            <a:r>
              <a:rPr lang="en-US" altLang="zh-TW" sz="2800" dirty="0"/>
              <a:t>(</a:t>
            </a:r>
            <a:r>
              <a:rPr lang="en-US" altLang="zh-TW" sz="2800" dirty="0" err="1"/>
              <a:t>js+popper</a:t>
            </a:r>
            <a:r>
              <a:rPr lang="zh-TW" altLang="en-US" sz="2800" dirty="0"/>
              <a:t>合在一起</a:t>
            </a:r>
            <a:r>
              <a:rPr lang="en-US" altLang="zh-TW" sz="2800" dirty="0"/>
              <a:t>)</a:t>
            </a:r>
            <a:r>
              <a:rPr lang="zh-TW" altLang="en-US" sz="2800" dirty="0"/>
              <a:t>，再</a:t>
            </a:r>
            <a:r>
              <a:rPr lang="en-US" altLang="zh-TW" sz="2800" dirty="0"/>
              <a:t>copy</a:t>
            </a:r>
            <a:r>
              <a:rPr lang="zh-TW" altLang="en-US" sz="2800" dirty="0"/>
              <a:t>第二個連結，是把</a:t>
            </a:r>
            <a:r>
              <a:rPr lang="en-US" altLang="zh-TW" sz="2800" dirty="0"/>
              <a:t>popper</a:t>
            </a:r>
            <a:r>
              <a:rPr lang="zh-TW" altLang="en-US" sz="2800" dirty="0"/>
              <a:t>分開來，</a:t>
            </a:r>
            <a:r>
              <a:rPr lang="en-US" altLang="zh-TW" sz="2800" dirty="0"/>
              <a:t>popper</a:t>
            </a:r>
            <a:r>
              <a:rPr lang="zh-TW" altLang="en-US" sz="2800" dirty="0"/>
              <a:t>是有一些彈出提示框功能</a:t>
            </a:r>
            <a:endParaRPr lang="en-US" altLang="zh-TW" sz="2800" dirty="0"/>
          </a:p>
          <a:p>
            <a:r>
              <a:rPr lang="zh-TW" altLang="en-US" sz="2800" dirty="0"/>
              <a:t>三、</a:t>
            </a:r>
            <a:r>
              <a:rPr lang="en-US" altLang="zh-TW" sz="2800" dirty="0"/>
              <a:t>https://snippet-generator.app/</a:t>
            </a:r>
          </a:p>
          <a:p>
            <a:r>
              <a:rPr lang="zh-TW" altLang="en-US" sz="2800" dirty="0"/>
              <a:t>四、</a:t>
            </a:r>
            <a:endParaRPr lang="en-US" altLang="zh-TW" sz="2800" dirty="0"/>
          </a:p>
          <a:p>
            <a:endParaRPr lang="en-US" altLang="zh-TW" sz="2800" dirty="0"/>
          </a:p>
          <a:p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4F1C779-FB08-7775-DB79-B237DD385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56" y="4785856"/>
            <a:ext cx="10307488" cy="111458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946725"/>
            <a:ext cx="3898232" cy="148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87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90675" y="1102644"/>
            <a:ext cx="7787208" cy="5154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Bootstrap </a:t>
            </a:r>
            <a:r>
              <a:rPr lang="zh-TW" altLang="en-US" dirty="0"/>
              <a:t>提供 </a:t>
            </a:r>
            <a:r>
              <a:rPr lang="en-US" altLang="zh-TW" dirty="0"/>
              <a:t>.container </a:t>
            </a:r>
            <a:r>
              <a:rPr lang="zh-TW" altLang="en-US" dirty="0"/>
              <a:t>、 </a:t>
            </a:r>
            <a:r>
              <a:rPr lang="en-US" altLang="zh-TW" dirty="0"/>
              <a:t>.container-fluid </a:t>
            </a:r>
            <a:r>
              <a:rPr lang="zh-TW" altLang="en-US" dirty="0"/>
              <a:t>和</a:t>
            </a:r>
            <a:r>
              <a:rPr lang="en-US" altLang="zh-TW" dirty="0"/>
              <a:t>.container-{breakpoint}</a:t>
            </a:r>
            <a:r>
              <a:rPr lang="zh-TW" altLang="en-US" dirty="0"/>
              <a:t> 三種容器，下面是一個例子。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734481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6-5-2</a:t>
            </a:r>
            <a:r>
              <a:rPr lang="zh-TW" altLang="en-US" dirty="0"/>
              <a:t>　容器</a:t>
            </a:r>
            <a:endParaRPr lang="en-US" altLang="zh-TW" dirty="0"/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06776B7-C0DB-4BF7-B0B3-033B41E39ED1}"/>
              </a:ext>
            </a:extLst>
          </p:cNvPr>
          <p:cNvSpPr txBox="1">
            <a:spLocks/>
          </p:cNvSpPr>
          <p:nvPr/>
        </p:nvSpPr>
        <p:spPr>
          <a:xfrm>
            <a:off x="714375" y="2348880"/>
            <a:ext cx="8910017" cy="43948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&lt;div class="</a:t>
            </a:r>
            <a:r>
              <a:rPr lang="en-US" altLang="zh-TW" dirty="0">
                <a:solidFill>
                  <a:srgbClr val="FF0000"/>
                </a:solidFill>
              </a:rPr>
              <a:t>container</a:t>
            </a:r>
            <a:r>
              <a:rPr lang="en-US" altLang="zh-TW" dirty="0"/>
              <a:t>"&gt;</a:t>
            </a:r>
          </a:p>
          <a:p>
            <a:r>
              <a:rPr lang="en-US" altLang="zh-TW" dirty="0"/>
              <a:t>  &lt;div class="row"&gt;</a:t>
            </a:r>
          </a:p>
          <a:p>
            <a:r>
              <a:rPr lang="en-US" altLang="zh-TW" dirty="0"/>
              <a:t>    &lt;div class="col-8"&gt;</a:t>
            </a:r>
            <a:r>
              <a:rPr lang="zh-TW" altLang="en-US" dirty="0"/>
              <a:t>區塊</a:t>
            </a:r>
            <a:r>
              <a:rPr lang="en-US" altLang="zh-TW" dirty="0"/>
              <a:t>1&lt;/div&gt;</a:t>
            </a:r>
          </a:p>
          <a:p>
            <a:r>
              <a:rPr lang="en-US" altLang="zh-TW" dirty="0"/>
              <a:t>    &lt;div class="col-4"&gt;</a:t>
            </a:r>
            <a:r>
              <a:rPr lang="zh-TW" altLang="en-US" dirty="0"/>
              <a:t>區塊</a:t>
            </a:r>
            <a:r>
              <a:rPr lang="en-US" altLang="zh-TW" dirty="0"/>
              <a:t>2&lt;/div&gt;</a:t>
            </a:r>
          </a:p>
          <a:p>
            <a:r>
              <a:rPr lang="en-US" altLang="zh-TW" dirty="0"/>
              <a:t>  &lt;/div&gt;</a:t>
            </a:r>
          </a:p>
          <a:p>
            <a:r>
              <a:rPr lang="en-US" altLang="zh-TW" dirty="0"/>
              <a:t>&lt;/div&gt;</a:t>
            </a:r>
          </a:p>
          <a:p>
            <a:r>
              <a:rPr lang="en-US" altLang="zh-TW" dirty="0"/>
              <a:t>&lt;div class="container</a:t>
            </a:r>
            <a:r>
              <a:rPr lang="en-US" altLang="zh-TW" dirty="0">
                <a:solidFill>
                  <a:srgbClr val="FF0000"/>
                </a:solidFill>
              </a:rPr>
              <a:t>-md</a:t>
            </a:r>
            <a:r>
              <a:rPr lang="en-US" altLang="zh-TW" dirty="0"/>
              <a:t>"&gt;</a:t>
            </a:r>
          </a:p>
          <a:p>
            <a:r>
              <a:rPr lang="en-US" altLang="zh-TW" dirty="0"/>
              <a:t>  &lt;div class="row"&gt;</a:t>
            </a:r>
          </a:p>
          <a:p>
            <a:r>
              <a:rPr lang="en-US" altLang="zh-TW" dirty="0"/>
              <a:t>    &lt;div class="col-8"&gt;</a:t>
            </a:r>
            <a:r>
              <a:rPr lang="zh-TW" altLang="en-US" dirty="0"/>
              <a:t>區塊</a:t>
            </a:r>
            <a:r>
              <a:rPr lang="en-US" altLang="zh-TW" dirty="0"/>
              <a:t>3&lt;/div&gt;</a:t>
            </a:r>
          </a:p>
          <a:p>
            <a:r>
              <a:rPr lang="en-US" altLang="zh-TW" dirty="0"/>
              <a:t>    &lt;div class="col-4"&gt;</a:t>
            </a:r>
            <a:r>
              <a:rPr lang="zh-TW" altLang="en-US" dirty="0"/>
              <a:t>區塊</a:t>
            </a:r>
            <a:r>
              <a:rPr lang="en-US" altLang="zh-TW" dirty="0"/>
              <a:t>4&lt;/div&gt;</a:t>
            </a:r>
          </a:p>
          <a:p>
            <a:r>
              <a:rPr lang="en-US" altLang="zh-TW" dirty="0"/>
              <a:t>  &lt;/div&gt;</a:t>
            </a:r>
          </a:p>
          <a:p>
            <a:r>
              <a:rPr lang="en-US" altLang="zh-TW" dirty="0"/>
              <a:t>&lt;/div&gt;</a:t>
            </a:r>
          </a:p>
          <a:p>
            <a:r>
              <a:rPr lang="en-US" altLang="zh-TW" dirty="0"/>
              <a:t>&lt;div class="container</a:t>
            </a:r>
            <a:r>
              <a:rPr lang="en-US" altLang="zh-TW" dirty="0">
                <a:solidFill>
                  <a:srgbClr val="FF0000"/>
                </a:solidFill>
              </a:rPr>
              <a:t>-fluid</a:t>
            </a:r>
            <a:r>
              <a:rPr lang="en-US" altLang="zh-TW" dirty="0"/>
              <a:t>"&gt;</a:t>
            </a:r>
          </a:p>
          <a:p>
            <a:r>
              <a:rPr lang="en-US" altLang="zh-TW" dirty="0"/>
              <a:t>  &lt;div class="row"&gt;</a:t>
            </a:r>
          </a:p>
          <a:p>
            <a:r>
              <a:rPr lang="en-US" altLang="zh-TW" dirty="0"/>
              <a:t>    &lt;div class="col-8"&gt;</a:t>
            </a:r>
            <a:r>
              <a:rPr lang="zh-TW" altLang="en-US" dirty="0"/>
              <a:t>區塊</a:t>
            </a:r>
            <a:r>
              <a:rPr lang="en-US" altLang="zh-TW" dirty="0"/>
              <a:t>5&lt;/div&gt;</a:t>
            </a:r>
          </a:p>
          <a:p>
            <a:r>
              <a:rPr lang="en-US" altLang="zh-TW" dirty="0"/>
              <a:t>    &lt;div class="col-4"&gt;</a:t>
            </a:r>
            <a:r>
              <a:rPr lang="zh-TW" altLang="en-US" dirty="0"/>
              <a:t>區塊</a:t>
            </a:r>
            <a:r>
              <a:rPr lang="en-US" altLang="zh-TW" dirty="0"/>
              <a:t>6&lt;/div&gt;</a:t>
            </a:r>
          </a:p>
          <a:p>
            <a:r>
              <a:rPr lang="en-US" altLang="zh-TW" dirty="0"/>
              <a:t>  &lt;/div&gt;</a:t>
            </a:r>
          </a:p>
          <a:p>
            <a:r>
              <a:rPr lang="en-US" altLang="zh-TW" dirty="0"/>
              <a:t>&lt;/div&gt;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D6096CC-8AD2-451A-9112-308CC4ADDAB6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67"/>
          <a:stretch/>
        </p:blipFill>
        <p:spPr bwMode="auto">
          <a:xfrm>
            <a:off x="6085039" y="2903042"/>
            <a:ext cx="2721448" cy="10770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062EF3C-6E39-436C-BB53-67CC8A3B4B45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66"/>
          <a:stretch/>
        </p:blipFill>
        <p:spPr bwMode="auto">
          <a:xfrm>
            <a:off x="5663952" y="4149080"/>
            <a:ext cx="3567916" cy="10770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62B6EB7-D104-43EE-AA61-DDD02AC35E57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66"/>
          <a:stretch/>
        </p:blipFill>
        <p:spPr bwMode="auto">
          <a:xfrm>
            <a:off x="4911231" y="5395118"/>
            <a:ext cx="4682239" cy="10770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1579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EC41D10-0FC2-D712-3B51-991DC505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9" y="109373"/>
            <a:ext cx="9935962" cy="23530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D5CAE50-0790-2E52-A5CD-2DA9F3FAD388}"/>
              </a:ext>
            </a:extLst>
          </p:cNvPr>
          <p:cNvSpPr/>
          <p:nvPr/>
        </p:nvSpPr>
        <p:spPr>
          <a:xfrm>
            <a:off x="5200650" y="1076325"/>
            <a:ext cx="295275" cy="400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C7F4CC-A95A-6D17-11DC-AD71221211D9}"/>
              </a:ext>
            </a:extLst>
          </p:cNvPr>
          <p:cNvSpPr/>
          <p:nvPr/>
        </p:nvSpPr>
        <p:spPr>
          <a:xfrm>
            <a:off x="114300" y="367097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12A522-73E4-CB07-74D6-1965C7ABD978}"/>
              </a:ext>
            </a:extLst>
          </p:cNvPr>
          <p:cNvSpPr txBox="1"/>
          <p:nvPr/>
        </p:nvSpPr>
        <p:spPr>
          <a:xfrm>
            <a:off x="10353675" y="495300"/>
            <a:ext cx="18453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按</a:t>
            </a:r>
            <a:r>
              <a:rPr lang="en-US" altLang="zh-TW" dirty="0"/>
              <a:t>F12</a:t>
            </a:r>
            <a:r>
              <a:rPr lang="zh-TW" altLang="en-US" dirty="0"/>
              <a:t>進入</a:t>
            </a:r>
            <a:endParaRPr lang="en-US" altLang="zh-TW" dirty="0"/>
          </a:p>
          <a:p>
            <a:r>
              <a:rPr lang="zh-TW" altLang="en-US" dirty="0"/>
              <a:t>可選不同裝置</a:t>
            </a:r>
            <a:endParaRPr lang="en-US" altLang="zh-TW" dirty="0"/>
          </a:p>
          <a:p>
            <a:r>
              <a:rPr lang="zh-TW" altLang="en-US" dirty="0"/>
              <a:t>但有個問題：</a:t>
            </a:r>
            <a:endParaRPr lang="en-US" altLang="zh-TW" dirty="0"/>
          </a:p>
          <a:p>
            <a:r>
              <a:rPr lang="zh-TW" altLang="en-US" dirty="0"/>
              <a:t>選</a:t>
            </a:r>
            <a:r>
              <a:rPr lang="en-US" altLang="zh-TW" dirty="0"/>
              <a:t>IPHONE14</a:t>
            </a:r>
            <a:r>
              <a:rPr lang="zh-TW" altLang="en-US" dirty="0"/>
              <a:t>時，</a:t>
            </a:r>
            <a:endParaRPr lang="en-US" altLang="zh-TW" dirty="0"/>
          </a:p>
          <a:p>
            <a:r>
              <a:rPr lang="zh-TW" altLang="en-US" dirty="0"/>
              <a:t>字太小看不清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25E5C2C-8E69-F73E-A277-9F98C4C67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547511"/>
            <a:ext cx="7715922" cy="439167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FD09778-A626-4D49-61E6-28FF5384369E}"/>
              </a:ext>
            </a:extLst>
          </p:cNvPr>
          <p:cNvSpPr txBox="1"/>
          <p:nvPr/>
        </p:nvSpPr>
        <p:spPr>
          <a:xfrm>
            <a:off x="8810625" y="2962275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要再加上這行設定，調整寬度</a:t>
            </a:r>
            <a:endParaRPr lang="en-US" altLang="zh-TW" dirty="0"/>
          </a:p>
          <a:p>
            <a:r>
              <a:rPr lang="zh-TW" altLang="en-US" dirty="0"/>
              <a:t>以配合裝置，尤其是高解析度的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93FEA2-F306-63C9-02C9-5EFF146CE36F}"/>
              </a:ext>
            </a:extLst>
          </p:cNvPr>
          <p:cNvSpPr/>
          <p:nvPr/>
        </p:nvSpPr>
        <p:spPr>
          <a:xfrm>
            <a:off x="2057400" y="4790971"/>
            <a:ext cx="3276600" cy="1957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＞形 12">
            <a:extLst>
              <a:ext uri="{FF2B5EF4-FFF2-40B4-BE49-F238E27FC236}">
                <a16:creationId xmlns:a16="http://schemas.microsoft.com/office/drawing/2014/main" id="{EBC2E299-B605-7FB3-B270-0FA68FFF7BC1}"/>
              </a:ext>
            </a:extLst>
          </p:cNvPr>
          <p:cNvSpPr/>
          <p:nvPr/>
        </p:nvSpPr>
        <p:spPr>
          <a:xfrm>
            <a:off x="9982200" y="5953125"/>
            <a:ext cx="484632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451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94852A2-64BD-BDBD-B33A-FE79A970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9694"/>
            <a:ext cx="12192000" cy="549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7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476672"/>
            <a:ext cx="8229600" cy="990600"/>
          </a:xfrm>
        </p:spPr>
        <p:txBody>
          <a:bodyPr/>
          <a:lstStyle/>
          <a:p>
            <a:r>
              <a:rPr lang="en-US" altLang="zh-TW" b="1" dirty="0">
                <a:solidFill>
                  <a:srgbClr val="00B050"/>
                </a:solidFill>
              </a:rPr>
              <a:t>   </a:t>
            </a:r>
            <a:r>
              <a:rPr lang="zh-TW" altLang="en-US" b="1" dirty="0">
                <a:solidFill>
                  <a:srgbClr val="00B050"/>
                </a:solidFill>
              </a:rPr>
              <a:t>網格系統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496130"/>
            <a:ext cx="8003232" cy="5010337"/>
          </a:xfrm>
        </p:spPr>
        <p:txBody>
          <a:bodyPr>
            <a:normAutofit/>
          </a:bodyPr>
          <a:lstStyle/>
          <a:p>
            <a:pPr algn="just"/>
            <a:r>
              <a:rPr lang="en-US" altLang="zh-TW" dirty="0"/>
              <a:t>Bootstrap </a:t>
            </a:r>
            <a:r>
              <a:rPr lang="zh-TW" altLang="en-US" dirty="0"/>
              <a:t>提供一個網格系統 </a:t>
            </a:r>
            <a:r>
              <a:rPr lang="en-US" altLang="zh-TW" dirty="0"/>
              <a:t>(gird system)</a:t>
            </a:r>
            <a:r>
              <a:rPr lang="zh-TW" altLang="en-US" dirty="0"/>
              <a:t>，讓使用者藉此開發適應不同裝置的網頁，達到響應式網頁設計的目的。</a:t>
            </a:r>
            <a:endParaRPr lang="en-US" altLang="zh-TW" dirty="0"/>
          </a:p>
          <a:p>
            <a:pPr algn="just"/>
            <a:endParaRPr lang="en-US" altLang="zh-TW" sz="1000" dirty="0"/>
          </a:p>
          <a:p>
            <a:pPr algn="just"/>
            <a:r>
              <a:rPr lang="en-US" altLang="zh-TW" dirty="0"/>
              <a:t>Bootstrap</a:t>
            </a:r>
            <a:r>
              <a:rPr lang="zh-TW" altLang="en-US" dirty="0"/>
              <a:t>針對不同的螢幕尺寸提供如下的網格選項：</a:t>
            </a:r>
            <a:endParaRPr lang="en-US" altLang="zh-TW" dirty="0"/>
          </a:p>
          <a:p>
            <a:pPr algn="just"/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44014-7FBE-4ACE-9C8B-AC5D9C80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44" y="3212976"/>
            <a:ext cx="8632828" cy="342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2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836712"/>
            <a:ext cx="7859216" cy="33123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舉例來說，假設要使用三個 </a:t>
            </a:r>
            <a:r>
              <a:rPr lang="en-US" altLang="zh-TW" dirty="0"/>
              <a:t>&lt;div&gt; </a:t>
            </a:r>
            <a:r>
              <a:rPr lang="zh-TW" altLang="en-US" dirty="0"/>
              <a:t>元素製作寬度為</a:t>
            </a:r>
            <a:r>
              <a:rPr lang="en-US" altLang="zh-TW" dirty="0"/>
              <a:t>1:3:2</a:t>
            </a:r>
            <a:r>
              <a:rPr lang="zh-TW" altLang="en-US" dirty="0"/>
              <a:t>的三欄版面，如下圖，我們可以撰寫如下的程式碼：</a:t>
            </a:r>
            <a:endParaRPr lang="en-US" altLang="zh-TW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CC1465C-01EA-42E7-8DC4-B1A47787CBEC}"/>
              </a:ext>
            </a:extLst>
          </p:cNvPr>
          <p:cNvSpPr txBox="1">
            <a:spLocks/>
          </p:cNvSpPr>
          <p:nvPr/>
        </p:nvSpPr>
        <p:spPr>
          <a:xfrm>
            <a:off x="2135560" y="3716972"/>
            <a:ext cx="7704856" cy="2520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class="col-sm-2"&gt;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 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 of 3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class="col-sm-6"&gt;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 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 of 3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class="col-sm-4"&gt;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 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 of 3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CABAFE-3EBD-443C-8C06-9E0ED67A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002" y="1916832"/>
            <a:ext cx="4493247" cy="156683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A0569A7-6848-464D-8E63-76010AD35A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72832" y="3716972"/>
            <a:ext cx="4867584" cy="12601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B149A7C-5A75-4D03-9808-844B64B2FA2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84033" y="5060864"/>
            <a:ext cx="2687697" cy="11763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4105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340769"/>
            <a:ext cx="7787208" cy="51543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Bootstrap</a:t>
            </a:r>
            <a:r>
              <a:rPr lang="zh-TW" altLang="en-US" dirty="0"/>
              <a:t>提供下列</a:t>
            </a:r>
            <a:r>
              <a:rPr lang="en-US" altLang="zh-TW" dirty="0"/>
              <a:t>6</a:t>
            </a:r>
            <a:r>
              <a:rPr lang="zh-TW" altLang="en-US" dirty="0"/>
              <a:t>個預設的斷點。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734481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6-5-1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斷點</a:t>
            </a:r>
            <a:endParaRPr lang="en-US" altLang="zh-TW" dirty="0">
              <a:solidFill>
                <a:srgbClr val="DC5924"/>
              </a:solidFill>
              <a:latin typeface="Constantia"/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C7465A-DAD7-49A3-9BE8-3FD5DD779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75" y="1942355"/>
            <a:ext cx="10277575" cy="46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1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8CB13-1427-2AA7-AED6-526A06A5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斷點設定考量</a:t>
            </a:r>
            <a:r>
              <a:rPr lang="en-US" altLang="zh-TW" dirty="0"/>
              <a:t>test3.html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0044A2-4B41-C5E0-4F32-7EF74C825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4" y="1466773"/>
            <a:ext cx="5630061" cy="110505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23C218-4D5E-71DC-828A-D1394C0A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686" y="0"/>
            <a:ext cx="4315427" cy="302937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2961155-9A6D-AEB8-6FC9-BFE955914EE3}"/>
              </a:ext>
            </a:extLst>
          </p:cNvPr>
          <p:cNvSpPr txBox="1"/>
          <p:nvPr/>
        </p:nvSpPr>
        <p:spPr>
          <a:xfrm>
            <a:off x="10582275" y="542925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桌機</a:t>
            </a:r>
            <a:r>
              <a:rPr lang="en-US" altLang="zh-TW" dirty="0"/>
              <a:t>OK</a:t>
            </a:r>
          </a:p>
          <a:p>
            <a:r>
              <a:rPr lang="zh-TW" altLang="en-US" dirty="0"/>
              <a:t>但手機不優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15ABC9E-6297-6CA9-1F66-E320144C8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0" y="3029373"/>
            <a:ext cx="6601746" cy="102884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3210490-AF53-A90A-810B-8FAB03F7A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94" y="4286129"/>
            <a:ext cx="8326012" cy="173379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6223BCC-538C-E8BC-F7A2-8213BF46052A}"/>
              </a:ext>
            </a:extLst>
          </p:cNvPr>
          <p:cNvSpPr txBox="1"/>
          <p:nvPr/>
        </p:nvSpPr>
        <p:spPr>
          <a:xfrm>
            <a:off x="7315200" y="3117601"/>
            <a:ext cx="48013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當</a:t>
            </a:r>
            <a:r>
              <a:rPr lang="en-US" altLang="zh-TW" sz="2400" dirty="0"/>
              <a:t>&gt;768PX</a:t>
            </a:r>
            <a:r>
              <a:rPr lang="zh-TW" altLang="en-US" sz="2400" dirty="0"/>
              <a:t>時，用</a:t>
            </a:r>
            <a:r>
              <a:rPr lang="en-US" altLang="zh-TW" sz="2400" dirty="0"/>
              <a:t>3:9</a:t>
            </a:r>
            <a:r>
              <a:rPr lang="zh-TW" altLang="en-US" sz="2400" dirty="0"/>
              <a:t>方式區分</a:t>
            </a:r>
            <a:endParaRPr lang="en-US" altLang="zh-TW" sz="2400" dirty="0"/>
          </a:p>
          <a:p>
            <a:r>
              <a:rPr lang="zh-TW" altLang="en-US" sz="2400" dirty="0"/>
              <a:t>小於時，就用</a:t>
            </a:r>
            <a:r>
              <a:rPr lang="en-US" altLang="zh-TW" sz="2400" dirty="0"/>
              <a:t>col-12</a:t>
            </a:r>
            <a:r>
              <a:rPr lang="zh-TW" altLang="en-US" sz="2400" dirty="0"/>
              <a:t>設定，</a:t>
            </a:r>
            <a:endParaRPr lang="en-US" altLang="zh-TW" sz="2400" dirty="0"/>
          </a:p>
          <a:p>
            <a:r>
              <a:rPr lang="zh-TW" altLang="en-US" sz="2400" dirty="0">
                <a:solidFill>
                  <a:srgbClr val="FF0000"/>
                </a:solidFill>
              </a:rPr>
              <a:t>重點在此：</a:t>
            </a:r>
            <a:r>
              <a:rPr lang="zh-TW" altLang="en-US" sz="2400" dirty="0"/>
              <a:t>兩個都要設</a:t>
            </a:r>
            <a:r>
              <a:rPr lang="en-US" altLang="zh-TW" sz="2400" dirty="0"/>
              <a:t>12(</a:t>
            </a:r>
            <a:r>
              <a:rPr lang="zh-TW" altLang="en-US" sz="2400" dirty="0"/>
              <a:t>滿版寬</a:t>
            </a:r>
            <a:r>
              <a:rPr lang="en-US" altLang="zh-TW" sz="2400" dirty="0"/>
              <a:t>)</a:t>
            </a:r>
          </a:p>
          <a:p>
            <a:r>
              <a:rPr lang="zh-TW" altLang="en-US" sz="2400" dirty="0"/>
              <a:t>就可變成強迫換行的垂直排列效果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D96943A-A055-74B3-BF08-3F9CE4291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120" y="4680461"/>
            <a:ext cx="4363059" cy="28674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549D50A-894C-7F1D-3E6C-046789A234A7}"/>
              </a:ext>
            </a:extLst>
          </p:cNvPr>
          <p:cNvSpPr/>
          <p:nvPr/>
        </p:nvSpPr>
        <p:spPr>
          <a:xfrm>
            <a:off x="2333625" y="3322555"/>
            <a:ext cx="2571750" cy="5879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40DD55-A99C-D65E-BADE-83F4AA313445}"/>
              </a:ext>
            </a:extLst>
          </p:cNvPr>
          <p:cNvSpPr/>
          <p:nvPr/>
        </p:nvSpPr>
        <p:spPr>
          <a:xfrm>
            <a:off x="5995686" y="-49814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F12F87-2CFC-A3CA-D82F-E19C1E072FCC}"/>
              </a:ext>
            </a:extLst>
          </p:cNvPr>
          <p:cNvSpPr/>
          <p:nvPr/>
        </p:nvSpPr>
        <p:spPr>
          <a:xfrm>
            <a:off x="6717816" y="599119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E9B56F-7F48-2436-56A6-A5608DBA8666}"/>
              </a:ext>
            </a:extLst>
          </p:cNvPr>
          <p:cNvSpPr/>
          <p:nvPr/>
        </p:nvSpPr>
        <p:spPr>
          <a:xfrm>
            <a:off x="8675634" y="5347419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736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77EE36B-810C-8234-E5DF-E8CC0F30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7" y="2289099"/>
            <a:ext cx="4734586" cy="108600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D6CC5D0-597B-9D26-C605-91FEC5CBE287}"/>
              </a:ext>
            </a:extLst>
          </p:cNvPr>
          <p:cNvSpPr/>
          <p:nvPr/>
        </p:nvSpPr>
        <p:spPr>
          <a:xfrm>
            <a:off x="1791958" y="2165350"/>
            <a:ext cx="1519568" cy="4139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27D642-8C99-047E-1C58-7FFAEEA77E08}"/>
              </a:ext>
            </a:extLst>
          </p:cNvPr>
          <p:cNvSpPr txBox="1"/>
          <p:nvPr/>
        </p:nvSpPr>
        <p:spPr>
          <a:xfrm>
            <a:off x="5400675" y="504825"/>
            <a:ext cx="67913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這選項就可自由調整寬度來檢視不同斷點的效果</a:t>
            </a:r>
            <a:r>
              <a:rPr lang="en-US" altLang="zh-TW" sz="3200" dirty="0"/>
              <a:t>md/lg</a:t>
            </a:r>
            <a:r>
              <a:rPr lang="zh-TW" altLang="en-US" sz="3200" dirty="0"/>
              <a:t>中型</a:t>
            </a:r>
            <a:r>
              <a:rPr lang="en-US" altLang="zh-TW" sz="3200" dirty="0"/>
              <a:t>/</a:t>
            </a:r>
            <a:r>
              <a:rPr lang="zh-TW" altLang="en-US" sz="3200" dirty="0"/>
              <a:t>大型裝置設定，不設就是小型大型以上就不用設，因可套用</a:t>
            </a:r>
            <a:r>
              <a:rPr lang="en-US" altLang="zh-TW" sz="3200" dirty="0"/>
              <a:t>lg</a:t>
            </a:r>
            <a:r>
              <a:rPr lang="zh-TW" altLang="en-US" sz="3200" dirty="0"/>
              <a:t>的設定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0948F27-B0C6-493C-E376-ECD9EA057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2" y="4095750"/>
            <a:ext cx="8659433" cy="98121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FC49E13-5D0E-530F-BBC1-FC332D8028EF}"/>
              </a:ext>
            </a:extLst>
          </p:cNvPr>
          <p:cNvSpPr txBox="1">
            <a:spLocks/>
          </p:cNvSpPr>
          <p:nvPr/>
        </p:nvSpPr>
        <p:spPr>
          <a:xfrm>
            <a:off x="152400" y="365125"/>
            <a:ext cx="61595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斷點結構</a:t>
            </a:r>
            <a:r>
              <a:rPr lang="en-US" altLang="zh-TW" dirty="0"/>
              <a:t>test3.html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493041-3D15-7F7D-9474-913A932E6381}"/>
              </a:ext>
            </a:extLst>
          </p:cNvPr>
          <p:cNvSpPr txBox="1"/>
          <p:nvPr/>
        </p:nvSpPr>
        <p:spPr>
          <a:xfrm>
            <a:off x="815975" y="5292725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注意：</a:t>
            </a:r>
            <a:r>
              <a:rPr lang="zh-TW" altLang="en-US" sz="2400" dirty="0">
                <a:solidFill>
                  <a:srgbClr val="FF0000"/>
                </a:solidFill>
              </a:rPr>
              <a:t>要加</a:t>
            </a:r>
            <a:r>
              <a:rPr lang="en-US" altLang="zh-TW" sz="2400" dirty="0">
                <a:solidFill>
                  <a:srgbClr val="FF0000"/>
                </a:solidFill>
              </a:rPr>
              <a:t>123</a:t>
            </a:r>
            <a:r>
              <a:rPr lang="zh-TW" altLang="en-US" sz="2400" dirty="0">
                <a:solidFill>
                  <a:srgbClr val="FF0000"/>
                </a:solidFill>
              </a:rPr>
              <a:t>的文字才會有高度出來，也才看得到顏色</a:t>
            </a:r>
            <a:r>
              <a:rPr lang="zh-TW" altLang="en-US" sz="2400" dirty="0"/>
              <a:t>，</a:t>
            </a:r>
            <a:endParaRPr lang="en-US" altLang="zh-TW" sz="2400" dirty="0"/>
          </a:p>
          <a:p>
            <a:r>
              <a:rPr lang="zh-TW" altLang="en-US" sz="2400" dirty="0"/>
              <a:t>另補充：顏色很好用，當還沒有合適的圖片之前，可用此方式代替</a:t>
            </a:r>
            <a:endParaRPr lang="en-US" altLang="zh-TW" sz="2400" dirty="0"/>
          </a:p>
          <a:p>
            <a:r>
              <a:rPr lang="zh-TW" altLang="en-US" sz="2400" dirty="0"/>
              <a:t>建議順序：先規劃好網格設定及效果，</a:t>
            </a:r>
            <a:r>
              <a:rPr lang="en-US" altLang="zh-TW" sz="2400" dirty="0"/>
              <a:t>ok</a:t>
            </a:r>
            <a:r>
              <a:rPr lang="zh-TW" altLang="en-US" sz="2400" dirty="0"/>
              <a:t>後再來加內容就很快</a:t>
            </a:r>
            <a:endParaRPr lang="en-US" altLang="zh-TW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3AF849-7585-8E18-FE5B-39F9769ADA1A}"/>
              </a:ext>
            </a:extLst>
          </p:cNvPr>
          <p:cNvSpPr/>
          <p:nvPr/>
        </p:nvSpPr>
        <p:spPr>
          <a:xfrm>
            <a:off x="3759200" y="3993970"/>
            <a:ext cx="381000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1EAE06-BAEB-2174-F37A-F160A02301FD}"/>
              </a:ext>
            </a:extLst>
          </p:cNvPr>
          <p:cNvSpPr/>
          <p:nvPr/>
        </p:nvSpPr>
        <p:spPr>
          <a:xfrm>
            <a:off x="5003800" y="4032070"/>
            <a:ext cx="381000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153307F-2527-D731-67BC-D0DCE640A78C}"/>
              </a:ext>
            </a:extLst>
          </p:cNvPr>
          <p:cNvSpPr txBox="1"/>
          <p:nvPr/>
        </p:nvSpPr>
        <p:spPr>
          <a:xfrm>
            <a:off x="622300" y="3492500"/>
            <a:ext cx="4705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/>
              <a:t>垂直紅框數字加起要是</a:t>
            </a:r>
            <a:r>
              <a:rPr lang="en-US" altLang="zh-TW" sz="3200" dirty="0"/>
              <a:t>12</a:t>
            </a:r>
            <a:endParaRPr lang="zh-TW" altLang="en-US" sz="32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F1C7224-9C3E-6BED-B504-40144806E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91403"/>
            <a:ext cx="3181794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22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138884"/>
            <a:ext cx="7859216" cy="46519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.align-items-* </a:t>
            </a:r>
            <a:r>
              <a:rPr lang="zh-TW" altLang="en-US" dirty="0"/>
              <a:t>類別設定列的垂直對齊方式，下面是一個例子。</a:t>
            </a:r>
            <a:endParaRPr lang="en-US" altLang="zh-TW" dirty="0"/>
          </a:p>
          <a:p>
            <a:pPr marL="0" indent="0" algn="just">
              <a:buNone/>
            </a:pP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606228"/>
            <a:ext cx="7283152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6-5-4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row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的垂直對齊方式</a:t>
            </a:r>
            <a:endParaRPr lang="en-US" altLang="zh-TW" dirty="0">
              <a:solidFill>
                <a:srgbClr val="DC5924"/>
              </a:solidFill>
              <a:latin typeface="Constantia"/>
              <a:ea typeface="標楷體" panose="03000509000000000000" pitchFamily="65" charset="-120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E152F854-344F-4960-BA94-BC426E9F991D}"/>
              </a:ext>
            </a:extLst>
          </p:cNvPr>
          <p:cNvSpPr txBox="1">
            <a:spLocks/>
          </p:cNvSpPr>
          <p:nvPr/>
        </p:nvSpPr>
        <p:spPr>
          <a:xfrm>
            <a:off x="2135224" y="2061366"/>
            <a:ext cx="7561176" cy="30958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align-items-start"&gt;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align-items-center"&gt;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align-items-end"&gt;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5&lt;/div&gt;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6&lt;/div&gt;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A28DCBE-70B4-479A-9D86-CCE9AE2F04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31904" y="3212976"/>
            <a:ext cx="4392488" cy="17867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3214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233668"/>
            <a:ext cx="8075240" cy="15472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.justify-content-* </a:t>
            </a:r>
            <a:r>
              <a:rPr lang="zh-TW" altLang="en-US" dirty="0"/>
              <a:t>類別設定欄的水平對齊方式，下面是一個例子。</a:t>
            </a:r>
            <a:endParaRPr lang="en-US" altLang="zh-TW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701012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6-5-4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的水平對齊方式</a:t>
            </a:r>
            <a:endParaRPr lang="en-US" altLang="zh-TW" dirty="0">
              <a:solidFill>
                <a:srgbClr val="DC5924"/>
              </a:solidFill>
              <a:latin typeface="Constantia"/>
              <a:ea typeface="標楷體" panose="03000509000000000000" pitchFamily="65" charset="-120"/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5A4076F-EE29-4C0A-B9BA-8B8D4499A876}"/>
              </a:ext>
            </a:extLst>
          </p:cNvPr>
          <p:cNvSpPr txBox="1">
            <a:spLocks/>
          </p:cNvSpPr>
          <p:nvPr/>
        </p:nvSpPr>
        <p:spPr>
          <a:xfrm>
            <a:off x="2098948" y="2204864"/>
            <a:ext cx="7674024" cy="42484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justify-content-start"&gt;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justify-content-center"&gt;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justify-content-end"&gt;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5&lt;/div&gt;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6&lt;/div&gt;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justify-content-around"&gt;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7&lt;/div&gt;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8&lt;/div&gt;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justify-content-between"&gt;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9&lt;/div&gt;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10&lt;/div&gt;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justify-content-evenly"&gt;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5343B26-08E1-4A87-9B4F-426EFD05DD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31904" y="5229201"/>
            <a:ext cx="4442792" cy="11357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6727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36" y="1412776"/>
            <a:ext cx="7920880" cy="16561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.offset-* </a:t>
            </a:r>
            <a:r>
              <a:rPr lang="zh-TW" altLang="en-US" dirty="0"/>
              <a:t>類別來設定</a:t>
            </a:r>
            <a:r>
              <a:rPr lang="en-US" altLang="zh-TW" dirty="0"/>
              <a:t>column</a:t>
            </a:r>
            <a:r>
              <a:rPr lang="zh-TW" altLang="en-US" dirty="0"/>
              <a:t>的位移，下面是一個例子。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19536" y="764704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6-5-5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的位移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69B08A0-6F6A-43CD-9496-5801978A5A0B}"/>
              </a:ext>
            </a:extLst>
          </p:cNvPr>
          <p:cNvSpPr txBox="1">
            <a:spLocks/>
          </p:cNvSpPr>
          <p:nvPr/>
        </p:nvSpPr>
        <p:spPr>
          <a:xfrm>
            <a:off x="2063552" y="2348880"/>
            <a:ext cx="7632848" cy="2952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class="col-md-4"&gt;.col-md-4&lt;/div&gt;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class="col-md-4 offset-md-4"&gt;.col-md-4 .offset-md-4&lt;/div&gt;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class="col-md-3 offset-md-3"&gt;.col-md-3 .offset-md-3&lt;/div&gt;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class="col-md-3 offset-md-3"&gt;.col-md-3 .offset-md-3&lt;/div&gt;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class="col-md-6 offset-md-3"&gt;.col-md-6 .offset-md-3&lt;/div&gt;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3D9FAF-BE63-4F57-897A-C6A55D58A7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55640" y="5445224"/>
            <a:ext cx="6336704" cy="11428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6284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36" y="1412776"/>
            <a:ext cx="7920880" cy="16561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將</a:t>
            </a:r>
            <a:r>
              <a:rPr lang="en-US" altLang="zh-TW" dirty="0"/>
              <a:t>column</a:t>
            </a:r>
            <a:r>
              <a:rPr lang="zh-TW" altLang="en-US" dirty="0"/>
              <a:t>換到新行很簡單，只要在換到新行的地方加上一個有</a:t>
            </a:r>
            <a:r>
              <a:rPr lang="en-US" altLang="zh-TW" dirty="0"/>
              <a:t>width: 100% </a:t>
            </a:r>
            <a:r>
              <a:rPr lang="zh-TW" altLang="en-US" dirty="0"/>
              <a:t>屬性的元素即可，下面是一個例子。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19536" y="764704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6-5-6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將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換到新行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69B08A0-6F6A-43CD-9496-5801978A5A0B}"/>
              </a:ext>
            </a:extLst>
          </p:cNvPr>
          <p:cNvSpPr txBox="1">
            <a:spLocks/>
          </p:cNvSpPr>
          <p:nvPr/>
        </p:nvSpPr>
        <p:spPr>
          <a:xfrm>
            <a:off x="2063552" y="2348880"/>
            <a:ext cx="7632848" cy="23042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&lt;!--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將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換到新行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--&gt;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</a:t>
            </a:r>
            <a:r>
              <a:rPr lang="en-US" altLang="zh-TW" sz="1400" dirty="0">
                <a:solidFill>
                  <a:srgbClr val="FF0000"/>
                </a:solidFill>
                <a:latin typeface="Constantia"/>
                <a:ea typeface="標楷體" panose="03000509000000000000" pitchFamily="65" charset="-120"/>
              </a:rPr>
              <a:t>&lt;div class="w-100"&gt;&lt;/div&gt;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8F78D9-4277-4777-A183-50A8482B0B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71664" y="4911824"/>
            <a:ext cx="6336704" cy="1469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55051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36" y="1412776"/>
            <a:ext cx="7920880" cy="16561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.order-* </a:t>
            </a:r>
            <a:r>
              <a:rPr lang="zh-TW" altLang="en-US" dirty="0"/>
              <a:t>等類別來控制</a:t>
            </a:r>
            <a:r>
              <a:rPr lang="en-US" altLang="zh-TW" dirty="0"/>
              <a:t>column</a:t>
            </a:r>
            <a:r>
              <a:rPr lang="zh-TW" altLang="en-US" dirty="0"/>
              <a:t>的順序，下面是一個例子。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19536" y="764704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6-5-7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的順序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69B08A0-6F6A-43CD-9496-5801978A5A0B}"/>
              </a:ext>
            </a:extLst>
          </p:cNvPr>
          <p:cNvSpPr txBox="1">
            <a:spLocks/>
          </p:cNvSpPr>
          <p:nvPr/>
        </p:nvSpPr>
        <p:spPr>
          <a:xfrm>
            <a:off x="2063552" y="2348880"/>
            <a:ext cx="7632848" cy="1656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1(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沒有指定順序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)&lt;/div&gt;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 order-5"&gt;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2(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指定順序為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5)&lt;/div&gt;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 order-1"&gt;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3(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指定順序為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1)&lt;/div&gt;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D5583A-E7C7-4998-9F0A-C77BF8E0DD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5680" y="4293096"/>
            <a:ext cx="5832648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161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DEDB05-9AD6-A309-FE22-551A6581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文字練習 </a:t>
            </a:r>
            <a:r>
              <a:rPr lang="en-US" altLang="zh-TW" dirty="0"/>
              <a:t>8.mp4 test4.html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314333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1477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宣紙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清晰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1477" id="{8EDF6A5C-2665-47DE-847B-52B0E9AB61E4}" vid="{76908F37-AD7E-4B43-905C-6485C594D950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13086</TotalTime>
  <Words>1936</Words>
  <Application>Microsoft Office PowerPoint</Application>
  <PresentationFormat>寬螢幕</PresentationFormat>
  <Paragraphs>195</Paragraphs>
  <Slides>25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Constantia</vt:lpstr>
      <vt:lpstr>Office 佈景主題</vt:lpstr>
      <vt:lpstr>F1477</vt:lpstr>
      <vt:lpstr>PowerPoint 簡報</vt:lpstr>
      <vt:lpstr>PowerPoint 簡報</vt:lpstr>
      <vt:lpstr>PowerPoint 簡報</vt:lpstr>
      <vt:lpstr>6-2   Bootstrap的版本</vt:lpstr>
      <vt:lpstr>PowerPoint 簡報</vt:lpstr>
      <vt:lpstr>PowerPoint 簡報</vt:lpstr>
      <vt:lpstr>PowerPoint 簡報</vt:lpstr>
      <vt:lpstr>PowerPoint 簡報</vt:lpstr>
      <vt:lpstr>Test1.html</vt:lpstr>
      <vt:lpstr>PowerPoint 簡報</vt:lpstr>
      <vt:lpstr>Test2.html  bs5範本製作 產生器</vt:lpstr>
      <vt:lpstr>PowerPoint 簡報</vt:lpstr>
      <vt:lpstr>PowerPoint 簡報</vt:lpstr>
      <vt:lpstr>PowerPoint 簡報</vt:lpstr>
      <vt:lpstr>   網格系統</vt:lpstr>
      <vt:lpstr>PowerPoint 簡報</vt:lpstr>
      <vt:lpstr>PowerPoint 簡報</vt:lpstr>
      <vt:lpstr>斷點設定考量test3.html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文字練習 8.mp4 test4.html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炳志 林</dc:creator>
  <cp:lastModifiedBy>炳志 林</cp:lastModifiedBy>
  <cp:revision>22</cp:revision>
  <dcterms:created xsi:type="dcterms:W3CDTF">2025-10-21T14:18:20Z</dcterms:created>
  <dcterms:modified xsi:type="dcterms:W3CDTF">2025-12-22T06:01:45Z</dcterms:modified>
</cp:coreProperties>
</file>